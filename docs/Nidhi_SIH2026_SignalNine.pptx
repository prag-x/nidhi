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www.meity.gov.in/static/uploads/2024/06/2bf1f0e9f04e6fb4f8fef35e82c42aa5.pdf" TargetMode="External"/><Relationship Id="rId5" Type="http://schemas.openxmlformats.org/officeDocument/2006/relationships/hyperlink" Target="https://doi.org/10.1007/BF00196791" TargetMode="External"/><Relationship Id="rId6" Type="http://schemas.openxmlformats.org/officeDocument/2006/relationships/hyperlink" Target="https://www.iso.org/standard/62021.html" TargetMode="External"/><Relationship Id="rId7" Type="http://schemas.openxmlformats.org/officeDocument/2006/relationships/hyperlink" Target="https://doi.org/10.6028/NIST.FIPS.180-4" TargetMode="External"/><Relationship Id="rId8" Type="http://schemas.openxmlformats.org/officeDocument/2006/relationships/hyperlink" Target="https://scikit-learn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123F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NIDHI  </a:t>
            </a:r>
            <a:r>
              <a:rPr b="1">
                <a:solidFill>
                  <a:srgbClr val="C2570C"/>
                </a:solidFill>
                <a:cs typeface="Nirmala UI"/>
              </a:rPr>
              <a:t>निधि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331720"/>
            <a:ext cx="6035040" cy="3840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endParaRPr lang="en-US" dirty="0"/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sz="1800" b="1">
                <a:solidFill>
                  <a:srgbClr val="137A4B"/>
                </a:solidFill>
              </a:rPr>
              <a:t>26265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sz="1800" b="1">
                <a:solidFill>
                  <a:srgbClr val="137A4B"/>
                </a:solidFill>
              </a:rPr>
              <a:t>Security Deposit / FDR Management Portal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sz="1800" b="1">
                <a:solidFill>
                  <a:srgbClr val="137A4B"/>
                </a:solidFill>
              </a:rPr>
              <a:t>Smart Automation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sz="1800" b="1">
                <a:solidFill>
                  <a:srgbClr val="137A4B"/>
                </a:solidFill>
              </a:rPr>
              <a:t>Software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  <a:r>
              <a:rPr sz="1800" b="1">
                <a:solidFill>
                  <a:srgbClr val="137A4B"/>
                </a:solidFill>
              </a:rPr>
              <a:t>198001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sz="1800" b="1">
                <a:solidFill>
                  <a:srgbClr val="137A4B"/>
                </a:solidFill>
              </a:rPr>
              <a:t>SignalNine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agline"/>
          <p:cNvSpPr txBox="1"/>
          <p:nvPr/>
        </p:nvSpPr>
        <p:spPr>
          <a:xfrm>
            <a:off x="822960" y="1828800"/>
            <a:ext cx="5394960" cy="50292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ctr" marL="0" indent="0">
              <a:spcAft>
                <a:spcPts val="200"/>
              </a:spcAft>
              <a:buNone/>
            </a:pPr>
            <a:r>
              <a:rPr sz="1200" b="1" i="0">
                <a:solidFill>
                  <a:srgbClr val="0B5CAD"/>
                </a:solidFill>
                <a:latin typeface="Calibri"/>
              </a:rPr>
              <a:t>“A fund held in trust”</a:t>
            </a:r>
            <a:r>
              <a:rPr sz="1200" b="0" i="0">
                <a:solidFill>
                  <a:srgbClr val="475569"/>
                </a:solidFill>
                <a:latin typeface="Calibri"/>
              </a:rPr>
              <a:t>: every security deposit and FDR pledged to AICTE, verified with the bank, tracked to maturity and released only by the competent authority.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NIDHI (निधि)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@SignalNine  ·  Nidhi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SignalNine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Subtitle"/>
          <p:cNvSpPr txBox="1"/>
          <p:nvPr/>
        </p:nvSpPr>
        <p:spPr>
          <a:xfrm>
            <a:off x="2743200" y="841248"/>
            <a:ext cx="6766560" cy="292608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ctr" marL="0" indent="0">
              <a:spcAft>
                <a:spcPts val="200"/>
              </a:spcAft>
              <a:buNone/>
            </a:pPr>
            <a:r>
              <a:rPr sz="1200" b="0" i="0">
                <a:solidFill>
                  <a:srgbClr val="475569"/>
                </a:solidFill>
                <a:latin typeface="Calibri"/>
              </a:rPr>
              <a:t>One portal for every security deposit and FDR AICTE holds, from lodging to lien release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228600" y="1325880"/>
            <a:ext cx="393192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4" name="Rounded Rectangle 15363"/>
          <p:cNvSpPr/>
          <p:nvPr/>
        </p:nvSpPr>
        <p:spPr>
          <a:xfrm>
            <a:off x="320040" y="1207007"/>
            <a:ext cx="1193292" cy="246888"/>
          </a:xfrm>
          <a:prstGeom prst="roundRect">
            <a:avLst>
              <a:gd name="adj" fmla="val 14814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Problem today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301752" y="1508760"/>
            <a:ext cx="3785615" cy="20116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128016" indent="-128016">
              <a:spcAft>
                <a:spcPts val="200"/>
              </a:spcAft>
              <a:buClr>
                <a:srgbClr val="1F3A5F"/>
              </a:buClr>
              <a:buFont typeface="Arial"/>
              <a:buChar char="•"/>
            </a:pPr>
            <a:r>
              <a:rPr sz="1000" b="1" i="0">
                <a:solidFill>
                  <a:srgbClr val="1F3A5F"/>
                </a:solidFill>
                <a:latin typeface="Calibri"/>
              </a:rPr>
              <a:t>Files, letters and spreadsheets.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 Deposit status lives in many places, so no one has an up-to-date view of what is held and what is pending.</a:t>
            </a:r>
          </a:p>
          <a:p>
            <a:pPr algn="l" marL="128016" indent="-128016">
              <a:spcAft>
                <a:spcPts val="200"/>
              </a:spcAft>
              <a:buClr>
                <a:srgbClr val="1F3A5F"/>
              </a:buClr>
              <a:buFont typeface="Arial"/>
              <a:buChar char="•"/>
            </a:pPr>
            <a:r>
              <a:rPr sz="1000" b="1" i="0">
                <a:solidFill>
                  <a:srgbClr val="1F3A5F"/>
                </a:solidFill>
                <a:latin typeface="Calibri"/>
              </a:rPr>
              <a:t>Paper is taken on trust.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 An FDR copy can be altered, reused by a second institution, or closed at the branch after AICTE accepts it.</a:t>
            </a:r>
          </a:p>
          <a:p>
            <a:pPr algn="l" marL="128016" indent="-128016">
              <a:spcAft>
                <a:spcPts val="200"/>
              </a:spcAft>
              <a:buClr>
                <a:srgbClr val="1F3A5F"/>
              </a:buClr>
              <a:buFont typeface="Arial"/>
              <a:buChar char="•"/>
            </a:pPr>
            <a:r>
              <a:rPr sz="1000" b="1" i="0">
                <a:solidFill>
                  <a:srgbClr val="1F3A5F"/>
                </a:solidFill>
                <a:latin typeface="Calibri"/>
              </a:rPr>
              <a:t>Maturity slips by.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 Renewals are chased by hand; a lapsed FDR is security in name only.</a:t>
            </a:r>
          </a:p>
          <a:p>
            <a:pPr algn="l" marL="128016" indent="-128016">
              <a:spcAft>
                <a:spcPts val="200"/>
              </a:spcAft>
              <a:buClr>
                <a:srgbClr val="1F3A5F"/>
              </a:buClr>
              <a:buFont typeface="Arial"/>
              <a:buChar char="•"/>
            </a:pPr>
            <a:r>
              <a:rPr sz="1000" b="1" i="0">
                <a:solidFill>
                  <a:srgbClr val="1F3A5F"/>
                </a:solidFill>
                <a:latin typeface="Calibri"/>
              </a:rPr>
              <a:t>Release by correspondence.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 Conditions, approvals and the lien-release letter are tracked on file notings.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228600" y="3703320"/>
            <a:ext cx="39319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7" name="Rounded Rectangle 15366"/>
          <p:cNvSpPr/>
          <p:nvPr/>
        </p:nvSpPr>
        <p:spPr>
          <a:xfrm>
            <a:off x="320040" y="3584448"/>
            <a:ext cx="1504188" cy="246888"/>
          </a:xfrm>
          <a:prstGeom prst="roundRect">
            <a:avLst>
              <a:gd name="adj" fmla="val 14814"/>
            </a:avLst>
          </a:prstGeom>
          <a:solidFill>
            <a:srgbClr val="12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301752" y="3886200"/>
            <a:ext cx="3785615" cy="20116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128016" indent="-128016">
              <a:spcAft>
                <a:spcPts val="200"/>
              </a:spcAft>
              <a:buClr>
                <a:srgbClr val="1F3A5F"/>
              </a:buClr>
              <a:buFont typeface="Arial"/>
              <a:buChar char="•"/>
            </a:pPr>
            <a:r>
              <a:rPr sz="1000" b="1" i="0">
                <a:solidFill>
                  <a:srgbClr val="1F3A5F"/>
                </a:solidFill>
                <a:latin typeface="Calibri"/>
              </a:rPr>
              <a:t>Lodge online: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 the institution uploads the FDR copy; the portal </a:t>
            </a:r>
            <a:r>
              <a:rPr sz="1000" b="1" i="0">
                <a:solidFill>
                  <a:srgbClr val="1F3A5F"/>
                </a:solidFill>
                <a:latin typeface="Calibri"/>
              </a:rPr>
              <a:t>reads it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 and fills in the form.</a:t>
            </a:r>
          </a:p>
          <a:p>
            <a:pPr algn="l" marL="128016" indent="-128016">
              <a:spcAft>
                <a:spcPts val="200"/>
              </a:spcAft>
              <a:buClr>
                <a:srgbClr val="1F3A5F"/>
              </a:buClr>
              <a:buFont typeface="Arial"/>
              <a:buChar char="•"/>
            </a:pPr>
            <a:r>
              <a:rPr sz="1000" b="1" i="0">
                <a:solidFill>
                  <a:srgbClr val="1F3A5F"/>
                </a:solidFill>
                <a:latin typeface="Calibri"/>
              </a:rPr>
              <a:t>Three sources side by side: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 declared, on the document, confirmed by the bank. Never merged.</a:t>
            </a:r>
          </a:p>
          <a:p>
            <a:pPr algn="l" marL="128016" indent="-128016">
              <a:spcAft>
                <a:spcPts val="200"/>
              </a:spcAft>
              <a:buClr>
                <a:srgbClr val="1F3A5F"/>
              </a:buClr>
              <a:buFont typeface="Arial"/>
              <a:buChar char="•"/>
            </a:pPr>
            <a:r>
              <a:rPr sz="1000" b="1" i="0">
                <a:solidFill>
                  <a:srgbClr val="1F3A5F"/>
                </a:solidFill>
                <a:latin typeface="Calibri"/>
              </a:rPr>
              <a:t>Monitor to maturity: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 reminders at 90/60/30/7 days, escalation at 15 and 45 days after maturity.</a:t>
            </a:r>
          </a:p>
          <a:p>
            <a:pPr algn="l" marL="128016" indent="-128016">
              <a:spcAft>
                <a:spcPts val="200"/>
              </a:spcAft>
              <a:buClr>
                <a:srgbClr val="1F3A5F"/>
              </a:buClr>
              <a:buFont typeface="Arial"/>
              <a:buChar char="•"/>
            </a:pPr>
            <a:r>
              <a:rPr sz="1000" b="1" i="0">
                <a:solidFill>
                  <a:srgbClr val="1F3A5F"/>
                </a:solidFill>
                <a:latin typeface="Calibri"/>
              </a:rPr>
              <a:t>Release by maker-checker</a:t>
            </a:r>
            <a:r>
              <a:rPr sz="1000" b="0" i="0">
                <a:solidFill>
                  <a:srgbClr val="1E293B"/>
                </a:solidFill>
                <a:latin typeface="Calibri"/>
              </a:rPr>
              <a:t> with a lien-release letter anyone can verify by QR.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4297680" y="1325880"/>
            <a:ext cx="3977639" cy="452628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0" name="Rounded Rectangle 15369"/>
          <p:cNvSpPr/>
          <p:nvPr/>
        </p:nvSpPr>
        <p:spPr>
          <a:xfrm>
            <a:off x="4389120" y="1207007"/>
            <a:ext cx="2125980" cy="246888"/>
          </a:xfrm>
          <a:prstGeom prst="roundRect">
            <a:avLst>
              <a:gd name="adj" fmla="val 14814"/>
            </a:avLst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Innovation and uniqueness</a:t>
            </a:r>
          </a:p>
        </p:txBody>
      </p:sp>
      <p:sp>
        <p:nvSpPr>
          <p:cNvPr id="15371" name="Oval 15370"/>
          <p:cNvSpPr/>
          <p:nvPr/>
        </p:nvSpPr>
        <p:spPr>
          <a:xfrm>
            <a:off x="4389120" y="1563624"/>
            <a:ext cx="274320" cy="274320"/>
          </a:xfrm>
          <a:prstGeom prst="ellipse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4736592" y="1517904"/>
            <a:ext cx="3447287" cy="658368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950" b="1" i="0">
                <a:solidFill>
                  <a:srgbClr val="1F3A5F"/>
                </a:solidFill>
                <a:latin typeface="Calibri"/>
              </a:rPr>
              <a:t>Three sources, never mixed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</a:rPr>
              <a:t>Every field shown as declared, as read from the FDR copy, and as confirmed by the bank. A red cell is a difference.</a:t>
            </a:r>
          </a:p>
        </p:txBody>
      </p:sp>
      <p:sp>
        <p:nvSpPr>
          <p:cNvPr id="15373" name="Oval 15372"/>
          <p:cNvSpPr/>
          <p:nvPr/>
        </p:nvSpPr>
        <p:spPr>
          <a:xfrm>
            <a:off x="4389120" y="2167128"/>
            <a:ext cx="274320" cy="274320"/>
          </a:xfrm>
          <a:prstGeom prst="ellipse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4736592" y="2121408"/>
            <a:ext cx="3447287" cy="658368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950" b="1" i="0">
                <a:solidFill>
                  <a:srgbClr val="1F3A5F"/>
                </a:solidFill>
                <a:latin typeface="Calibri"/>
              </a:rPr>
              <a:t>Reads the FDR copy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</a:rPr>
              <a:t>Reads PDFs, scans and phone photos (OCR, offline) and catches an altered copy on lodging (</a:t>
            </a:r>
            <a:r>
              <a:rPr sz="950" b="1" i="0">
                <a:solidFill>
                  <a:srgbClr val="137A4B"/>
                </a:solidFill>
                <a:latin typeface="Calibri"/>
              </a:rPr>
              <a:t>100%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 digital, </a:t>
            </a:r>
            <a:r>
              <a:rPr sz="950" b="1" i="0">
                <a:solidFill>
                  <a:srgbClr val="137A4B"/>
                </a:solidFill>
                <a:latin typeface="Calibri"/>
              </a:rPr>
              <a:t>99.6%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 scanned).</a:t>
            </a:r>
          </a:p>
        </p:txBody>
      </p:sp>
      <p:sp>
        <p:nvSpPr>
          <p:cNvPr id="15375" name="Oval 15374"/>
          <p:cNvSpPr/>
          <p:nvPr/>
        </p:nvSpPr>
        <p:spPr>
          <a:xfrm>
            <a:off x="4389120" y="2770632"/>
            <a:ext cx="274320" cy="274320"/>
          </a:xfrm>
          <a:prstGeom prst="ellipse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4736592" y="2724912"/>
            <a:ext cx="3447287" cy="658368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950" b="1" i="0">
                <a:solidFill>
                  <a:srgbClr val="1F3A5F"/>
                </a:solidFill>
                <a:latin typeface="Calibri"/>
              </a:rPr>
              <a:t>Fraud signals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</a:rPr>
              <a:t>Same FDR reused by two institutions, bank with no record, FDR later closed at the bank (periodic re-confirmation).</a:t>
            </a:r>
          </a:p>
        </p:txBody>
      </p:sp>
      <p:sp>
        <p:nvSpPr>
          <p:cNvPr id="15377" name="Oval 15376"/>
          <p:cNvSpPr/>
          <p:nvPr/>
        </p:nvSpPr>
        <p:spPr>
          <a:xfrm>
            <a:off x="4389120" y="3374136"/>
            <a:ext cx="274320" cy="274320"/>
          </a:xfrm>
          <a:prstGeom prst="ellipse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4736592" y="3328416"/>
            <a:ext cx="3447287" cy="658368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950" b="1" i="0">
                <a:solidFill>
                  <a:srgbClr val="1F3A5F"/>
                </a:solidFill>
                <a:latin typeface="Calibri"/>
              </a:rPr>
              <a:t>Verifiable letters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</a:rPr>
              <a:t>Acknowledgements and lien releases carry a QR and a SHA-256 fingerprint; a branch checks them without signing in.</a:t>
            </a:r>
          </a:p>
        </p:txBody>
      </p:sp>
      <p:sp>
        <p:nvSpPr>
          <p:cNvPr id="15379" name="Oval 15378"/>
          <p:cNvSpPr/>
          <p:nvPr/>
        </p:nvSpPr>
        <p:spPr>
          <a:xfrm>
            <a:off x="4389120" y="3977639"/>
            <a:ext cx="274320" cy="274320"/>
          </a:xfrm>
          <a:prstGeom prst="ellipse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4736592" y="3931920"/>
            <a:ext cx="3447287" cy="658368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950" b="1" i="0">
                <a:solidFill>
                  <a:srgbClr val="1F3A5F"/>
                </a:solidFill>
                <a:latin typeface="Calibri"/>
              </a:rPr>
              <a:t>Late-renewal prediction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</a:rPr>
              <a:t>Ranks held FDRs by the chance the replacement comes after maturity, with reasons, 60 days ahead.</a:t>
            </a:r>
          </a:p>
        </p:txBody>
      </p:sp>
      <p:sp>
        <p:nvSpPr>
          <p:cNvPr id="15381" name="Oval 15380"/>
          <p:cNvSpPr/>
          <p:nvPr/>
        </p:nvSpPr>
        <p:spPr>
          <a:xfrm>
            <a:off x="4389120" y="4581144"/>
            <a:ext cx="274320" cy="274320"/>
          </a:xfrm>
          <a:prstGeom prst="ellipse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4736592" y="4535424"/>
            <a:ext cx="3447287" cy="658368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950" b="1" i="0">
                <a:solidFill>
                  <a:srgbClr val="1F3A5F"/>
                </a:solidFill>
                <a:latin typeface="Calibri"/>
                <a:cs typeface="Nirmala UI"/>
              </a:rPr>
              <a:t>Ask in English or हिंदी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</a:rPr>
              <a:t>“FDRs maturing in 30 days” becomes the right filters. Runs on the server: </a:t>
            </a:r>
            <a:r>
              <a:rPr sz="950" b="1" i="0">
                <a:solidFill>
                  <a:srgbClr val="137A4B"/>
                </a:solidFill>
                <a:latin typeface="Calibri"/>
              </a:rPr>
              <a:t>no cloud AI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4389120" y="5029200"/>
            <a:ext cx="3794759" cy="201168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200"/>
              </a:spcAft>
              <a:buNone/>
            </a:pPr>
            <a:r>
              <a:rPr sz="900" b="1" i="0">
                <a:solidFill>
                  <a:srgbClr val="1F3A5F"/>
                </a:solidFill>
                <a:latin typeface="Calibri"/>
              </a:rPr>
              <a:t>All 10 required capabilities, built: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4389120" y="5230368"/>
            <a:ext cx="1228343" cy="137160"/>
          </a:xfrm>
          <a:prstGeom prst="roundRect">
            <a:avLst>
              <a:gd name="adj" fmla="val 20000"/>
            </a:avLst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marL="0" indent="0">
              <a:buNone/>
            </a:pPr>
            <a:r>
              <a:rPr sz="650" b="1" i="0">
                <a:solidFill>
                  <a:srgbClr val="137A4B"/>
                </a:solidFill>
                <a:latin typeface="Calibri"/>
              </a:rPr>
              <a:t>✔ Repository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5672328" y="5230368"/>
            <a:ext cx="1228343" cy="137160"/>
          </a:xfrm>
          <a:prstGeom prst="roundRect">
            <a:avLst>
              <a:gd name="adj" fmla="val 20000"/>
            </a:avLst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marL="0" indent="0">
              <a:buNone/>
            </a:pPr>
            <a:r>
              <a:rPr sz="650" b="1" i="0">
                <a:solidFill>
                  <a:srgbClr val="137A4B"/>
                </a:solidFill>
                <a:latin typeface="Calibri"/>
              </a:rPr>
              <a:t>✔ Documents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6955535" y="5230368"/>
            <a:ext cx="1228343" cy="137160"/>
          </a:xfrm>
          <a:prstGeom prst="roundRect">
            <a:avLst>
              <a:gd name="adj" fmla="val 20000"/>
            </a:avLst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marL="0" indent="0">
              <a:buNone/>
            </a:pPr>
            <a:r>
              <a:rPr sz="650" b="1" i="0">
                <a:solidFill>
                  <a:srgbClr val="137A4B"/>
                </a:solidFill>
                <a:latin typeface="Calibri"/>
              </a:rPr>
              <a:t>✔ Verification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4389120" y="5381244"/>
            <a:ext cx="1228343" cy="137160"/>
          </a:xfrm>
          <a:prstGeom prst="roundRect">
            <a:avLst>
              <a:gd name="adj" fmla="val 20000"/>
            </a:avLst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marL="0" indent="0">
              <a:buNone/>
            </a:pPr>
            <a:r>
              <a:rPr sz="650" b="1" i="0">
                <a:solidFill>
                  <a:srgbClr val="137A4B"/>
                </a:solidFill>
                <a:latin typeface="Calibri"/>
              </a:rPr>
              <a:t>✔ Maturity tracking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5672328" y="5381244"/>
            <a:ext cx="1228343" cy="137160"/>
          </a:xfrm>
          <a:prstGeom prst="roundRect">
            <a:avLst>
              <a:gd name="adj" fmla="val 20000"/>
            </a:avLst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marL="0" indent="0">
              <a:buNone/>
            </a:pPr>
            <a:r>
              <a:rPr sz="650" b="1" i="0">
                <a:solidFill>
                  <a:srgbClr val="137A4B"/>
                </a:solidFill>
                <a:latin typeface="Calibri"/>
              </a:rPr>
              <a:t>✔ Renewals</a:t>
            </a:r>
          </a:p>
        </p:txBody>
      </p:sp>
      <p:sp>
        <p:nvSpPr>
          <p:cNvPr id="15389" name="Rounded Rectangle 15388"/>
          <p:cNvSpPr/>
          <p:nvPr/>
        </p:nvSpPr>
        <p:spPr>
          <a:xfrm>
            <a:off x="6955535" y="5381244"/>
            <a:ext cx="1228343" cy="137160"/>
          </a:xfrm>
          <a:prstGeom prst="roundRect">
            <a:avLst>
              <a:gd name="adj" fmla="val 20000"/>
            </a:avLst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marL="0" indent="0">
              <a:buNone/>
            </a:pPr>
            <a:r>
              <a:rPr sz="650" b="1" i="0">
                <a:solidFill>
                  <a:srgbClr val="137A4B"/>
                </a:solidFill>
                <a:latin typeface="Calibri"/>
              </a:rPr>
              <a:t>✔ Release workflow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4389120" y="5532120"/>
            <a:ext cx="1228343" cy="137160"/>
          </a:xfrm>
          <a:prstGeom prst="roundRect">
            <a:avLst>
              <a:gd name="adj" fmla="val 20000"/>
            </a:avLst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marL="0" indent="0">
              <a:buNone/>
            </a:pPr>
            <a:r>
              <a:rPr sz="650" b="1" i="0">
                <a:solidFill>
                  <a:srgbClr val="137A4B"/>
                </a:solidFill>
                <a:latin typeface="Calibri"/>
              </a:rPr>
              <a:t>✔ Alerts &amp; escalation</a:t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5672328" y="5532120"/>
            <a:ext cx="1228343" cy="137160"/>
          </a:xfrm>
          <a:prstGeom prst="roundRect">
            <a:avLst>
              <a:gd name="adj" fmla="val 20000"/>
            </a:avLst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marL="0" indent="0">
              <a:buNone/>
            </a:pPr>
            <a:r>
              <a:rPr sz="650" b="1" i="0">
                <a:solidFill>
                  <a:srgbClr val="137A4B"/>
                </a:solidFill>
                <a:latin typeface="Calibri"/>
              </a:rPr>
              <a:t>✔ Dashboard &amp; reports</a:t>
            </a:r>
          </a:p>
        </p:txBody>
      </p:sp>
      <p:sp>
        <p:nvSpPr>
          <p:cNvPr id="15392" name="Rounded Rectangle 15391"/>
          <p:cNvSpPr/>
          <p:nvPr/>
        </p:nvSpPr>
        <p:spPr>
          <a:xfrm>
            <a:off x="6955535" y="5532120"/>
            <a:ext cx="1228343" cy="137160"/>
          </a:xfrm>
          <a:prstGeom prst="roundRect">
            <a:avLst>
              <a:gd name="adj" fmla="val 20000"/>
            </a:avLst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marL="0" indent="0">
              <a:buNone/>
            </a:pPr>
            <a:r>
              <a:rPr sz="650" b="1" i="0">
                <a:solidFill>
                  <a:srgbClr val="137A4B"/>
                </a:solidFill>
                <a:latin typeface="Calibri"/>
              </a:rPr>
              <a:t>✔ Audit &amp; access</a:t>
            </a:r>
          </a:p>
        </p:txBody>
      </p:sp>
      <p:sp>
        <p:nvSpPr>
          <p:cNvPr id="15393" name="Rounded Rectangle 15392"/>
          <p:cNvSpPr/>
          <p:nvPr/>
        </p:nvSpPr>
        <p:spPr>
          <a:xfrm>
            <a:off x="5672328" y="5682996"/>
            <a:ext cx="1228343" cy="137160"/>
          </a:xfrm>
          <a:prstGeom prst="roundRect">
            <a:avLst>
              <a:gd name="adj" fmla="val 20000"/>
            </a:avLst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marL="0" indent="0">
              <a:buNone/>
            </a:pPr>
            <a:r>
              <a:rPr sz="650" b="1" i="0">
                <a:solidFill>
                  <a:srgbClr val="137A4B"/>
                </a:solidFill>
                <a:latin typeface="Calibri"/>
              </a:rPr>
              <a:t>✔ Integration &amp; security</a:t>
            </a:r>
          </a:p>
        </p:txBody>
      </p:sp>
      <p:pic>
        <p:nvPicPr>
          <p:cNvPr id="15394" name="Picture 15393" descr="th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325880"/>
            <a:ext cx="3547872" cy="2227246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15395" name="TextBox 15394"/>
          <p:cNvSpPr txBox="1"/>
          <p:nvPr/>
        </p:nvSpPr>
        <p:spPr>
          <a:xfrm>
            <a:off x="8412480" y="3580557"/>
            <a:ext cx="3547872" cy="4114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850" b="1" i="0">
                <a:solidFill>
                  <a:srgbClr val="C2570C"/>
                </a:solidFill>
                <a:latin typeface="Calibri"/>
              </a:rPr>
              <a:t>The deposit file</a:t>
            </a:r>
            <a:r>
              <a:rPr sz="850" b="0" i="0">
                <a:solidFill>
                  <a:srgbClr val="475569"/>
                </a:solidFill>
                <a:latin typeface="Calibri"/>
              </a:rPr>
              <a:t>: the FDR copy reads ₹50,000 where ₹5,00,000 was declared; the bank confirms the declaration.</a:t>
            </a:r>
          </a:p>
        </p:txBody>
      </p:sp>
      <p:pic>
        <p:nvPicPr>
          <p:cNvPr id="15396" name="Picture 15395" descr="dup_dis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4101765"/>
            <a:ext cx="3547872" cy="107431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15397" name="TextBox 15396"/>
          <p:cNvSpPr txBox="1"/>
          <p:nvPr/>
        </p:nvSpPr>
        <p:spPr>
          <a:xfrm>
            <a:off x="8412480" y="5194372"/>
            <a:ext cx="3547872" cy="27432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850" b="1" i="0">
                <a:solidFill>
                  <a:srgbClr val="B42318"/>
                </a:solidFill>
                <a:latin typeface="Calibri"/>
              </a:rPr>
              <a:t>Fraud signal</a:t>
            </a:r>
            <a:r>
              <a:rPr sz="850" b="0" i="0">
                <a:solidFill>
                  <a:srgbClr val="475569"/>
                </a:solidFill>
                <a:latin typeface="Calibri"/>
              </a:rPr>
              <a:t>: the same FDR lodged by a second college</a:t>
            </a:r>
          </a:p>
        </p:txBody>
      </p:sp>
      <p:sp>
        <p:nvSpPr>
          <p:cNvPr id="15398" name="Rounded Rectangle 15397"/>
          <p:cNvSpPr/>
          <p:nvPr/>
        </p:nvSpPr>
        <p:spPr>
          <a:xfrm>
            <a:off x="228600" y="5943600"/>
            <a:ext cx="11731752" cy="329184"/>
          </a:xfrm>
          <a:prstGeom prst="roundRect">
            <a:avLst>
              <a:gd name="adj" fmla="val 16666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FULLY WORKING PROTOTYPE  ·  all 6 PS test scenarios automated  ·  82 automated tests  ·  600 institutions, 1,849 deposits, 11 banks (all synthetic)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@SignalNine  ·  Nidhi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SignalNine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28600" y="1280160"/>
            <a:ext cx="726948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Rounded Rectangle 17410"/>
          <p:cNvSpPr/>
          <p:nvPr/>
        </p:nvSpPr>
        <p:spPr>
          <a:xfrm>
            <a:off x="320040" y="1161288"/>
            <a:ext cx="2903220" cy="246888"/>
          </a:xfrm>
          <a:prstGeom prst="roundRect">
            <a:avLst>
              <a:gd name="adj" fmla="val 14814"/>
            </a:avLst>
          </a:prstGeom>
          <a:solidFill>
            <a:srgbClr val="12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Architecture: the life of a deposit</a:t>
            </a:r>
          </a:p>
        </p:txBody>
      </p:sp>
      <p:sp>
        <p:nvSpPr>
          <p:cNvPr id="17412" name="Pentagon 17411"/>
          <p:cNvSpPr/>
          <p:nvPr/>
        </p:nvSpPr>
        <p:spPr>
          <a:xfrm>
            <a:off x="347472" y="1508760"/>
            <a:ext cx="1252728" cy="329184"/>
          </a:xfrm>
          <a:prstGeom prst="homePlate">
            <a:avLst/>
          </a:prstGeom>
          <a:solidFill>
            <a:srgbClr val="12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1050" b="1" i="0">
                <a:solidFill>
                  <a:srgbClr val="FFFFFF"/>
                </a:solidFill>
                <a:latin typeface="Calibri"/>
              </a:rPr>
              <a:t>1  Lodge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47472" y="1920240"/>
            <a:ext cx="1252728" cy="2331720"/>
          </a:xfrm>
          <a:prstGeom prst="roundRect">
            <a:avLst>
              <a:gd name="adj" fmla="val 4379"/>
            </a:avLst>
          </a:prstGeom>
          <a:solidFill>
            <a:srgbClr val="EC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Rounded Rectangle 17413"/>
          <p:cNvSpPr/>
          <p:nvPr/>
        </p:nvSpPr>
        <p:spPr>
          <a:xfrm>
            <a:off x="402336" y="1965960"/>
            <a:ext cx="1143000" cy="697991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900" b="1" i="0">
                <a:solidFill>
                  <a:srgbClr val="123F3C"/>
                </a:solidFill>
                <a:latin typeface="Calibri"/>
              </a:rPr>
              <a:t>Institution uploads</a:t>
            </a:r>
          </a:p>
          <a:p>
            <a:pPr algn="ctr" marL="0" indent="0">
              <a:buNone/>
            </a:pPr>
            <a:r>
              <a:rPr sz="750" b="0" i="0">
                <a:solidFill>
                  <a:srgbClr val="123F3C"/>
                </a:solidFill>
                <a:latin typeface="Calibri"/>
              </a:rPr>
              <a:t>FDR copy (PDF)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02336" y="2737104"/>
            <a:ext cx="1143000" cy="697991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900" b="1" i="0">
                <a:solidFill>
                  <a:srgbClr val="123F3C"/>
                </a:solidFill>
                <a:latin typeface="Calibri"/>
              </a:rPr>
              <a:t>Reader fills</a:t>
            </a:r>
          </a:p>
          <a:p>
            <a:pPr algn="ctr" marL="0" indent="0">
              <a:buNone/>
            </a:pPr>
            <a:r>
              <a:rPr sz="750" b="0" i="0">
                <a:solidFill>
                  <a:srgbClr val="123F3C"/>
                </a:solidFill>
                <a:latin typeface="Calibri"/>
              </a:rPr>
              <a:t>the form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02336" y="3508247"/>
            <a:ext cx="1143000" cy="697991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900" b="1" i="0">
                <a:solidFill>
                  <a:srgbClr val="123F3C"/>
                </a:solidFill>
                <a:latin typeface="Calibri"/>
              </a:rPr>
              <a:t>Acknowledgement</a:t>
            </a:r>
          </a:p>
          <a:p>
            <a:pPr algn="ctr" marL="0" indent="0">
              <a:buNone/>
            </a:pPr>
            <a:r>
              <a:rPr sz="750" b="0" i="0">
                <a:solidFill>
                  <a:srgbClr val="123F3C"/>
                </a:solidFill>
                <a:latin typeface="Calibri"/>
              </a:rPr>
              <a:t>letter with QR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1609344" y="3081528"/>
            <a:ext cx="13716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Chevron 17417"/>
          <p:cNvSpPr/>
          <p:nvPr/>
        </p:nvSpPr>
        <p:spPr>
          <a:xfrm>
            <a:off x="1755648" y="1508760"/>
            <a:ext cx="1252728" cy="329184"/>
          </a:xfrm>
          <a:prstGeom prst="chevron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1050" b="1" i="0">
                <a:solidFill>
                  <a:srgbClr val="FFFFFF"/>
                </a:solidFill>
                <a:latin typeface="Calibri"/>
              </a:rPr>
              <a:t>2  Check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1755648" y="1920240"/>
            <a:ext cx="1252728" cy="2331720"/>
          </a:xfrm>
          <a:prstGeom prst="roundRect">
            <a:avLst>
              <a:gd name="adj" fmla="val 4379"/>
            </a:avLst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Rounded Rectangle 17419"/>
          <p:cNvSpPr/>
          <p:nvPr/>
        </p:nvSpPr>
        <p:spPr>
          <a:xfrm>
            <a:off x="1810512" y="1965960"/>
            <a:ext cx="1143000" cy="697991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900" b="1" i="0">
                <a:solidFill>
                  <a:srgbClr val="C2570C"/>
                </a:solidFill>
                <a:latin typeface="Calibri"/>
              </a:rPr>
              <a:t>17 automatic checks</a:t>
            </a:r>
          </a:p>
          <a:p>
            <a:pPr algn="ctr" marL="0" indent="0">
              <a:buNone/>
            </a:pPr>
            <a:r>
              <a:rPr sz="750" b="0" i="0">
                <a:solidFill>
                  <a:srgbClr val="C2570C"/>
                </a:solidFill>
                <a:latin typeface="Calibri"/>
              </a:rPr>
              <a:t>norm, lien, IFSC, name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1810512" y="2737104"/>
            <a:ext cx="1143000" cy="697991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900" b="1" i="0">
                <a:solidFill>
                  <a:srgbClr val="C2570C"/>
                </a:solidFill>
                <a:latin typeface="Calibri"/>
              </a:rPr>
              <a:t>Document vs</a:t>
            </a:r>
          </a:p>
          <a:p>
            <a:pPr algn="ctr" marL="0" indent="0">
              <a:buNone/>
            </a:pPr>
            <a:r>
              <a:rPr sz="750" b="0" i="0">
                <a:solidFill>
                  <a:srgbClr val="C2570C"/>
                </a:solidFill>
                <a:latin typeface="Calibri"/>
              </a:rPr>
              <a:t>declaration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1810512" y="3508247"/>
            <a:ext cx="1143000" cy="697991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900" b="1" i="0">
                <a:solidFill>
                  <a:srgbClr val="C2570C"/>
                </a:solidFill>
                <a:latin typeface="Calibri"/>
              </a:rPr>
              <a:t>Reused FDR or</a:t>
            </a:r>
          </a:p>
          <a:p>
            <a:pPr algn="ctr" marL="0" indent="0">
              <a:buNone/>
            </a:pPr>
            <a:r>
              <a:rPr sz="750" b="0" i="0">
                <a:solidFill>
                  <a:srgbClr val="C2570C"/>
                </a:solidFill>
                <a:latin typeface="Calibri"/>
              </a:rPr>
              <a:t>document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3017520" y="3081528"/>
            <a:ext cx="13716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Chevron 17423"/>
          <p:cNvSpPr/>
          <p:nvPr/>
        </p:nvSpPr>
        <p:spPr>
          <a:xfrm>
            <a:off x="3163824" y="1508760"/>
            <a:ext cx="1252728" cy="329184"/>
          </a:xfrm>
          <a:prstGeom prst="chevron">
            <a:avLst/>
          </a:prstGeom>
          <a:solidFill>
            <a:srgbClr val="584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1050" b="1" i="0">
                <a:solidFill>
                  <a:srgbClr val="FFFFFF"/>
                </a:solidFill>
                <a:latin typeface="Calibri"/>
              </a:rPr>
              <a:t>3  Verify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3163824" y="1920240"/>
            <a:ext cx="1252728" cy="2331720"/>
          </a:xfrm>
          <a:prstGeom prst="roundRect">
            <a:avLst>
              <a:gd name="adj" fmla="val 4379"/>
            </a:avLst>
          </a:prstGeom>
          <a:solidFill>
            <a:srgbClr val="F2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Rounded Rectangle 17425"/>
          <p:cNvSpPr/>
          <p:nvPr/>
        </p:nvSpPr>
        <p:spPr>
          <a:xfrm>
            <a:off x="3218688" y="1965960"/>
            <a:ext cx="1143000" cy="697991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900" b="1" i="0">
                <a:solidFill>
                  <a:srgbClr val="58408F"/>
                </a:solidFill>
                <a:latin typeface="Calibri"/>
              </a:rPr>
              <a:t>Bank connector</a:t>
            </a:r>
          </a:p>
          <a:p>
            <a:pPr algn="ctr" marL="0" indent="0">
              <a:buNone/>
            </a:pPr>
            <a:r>
              <a:rPr sz="750" b="0" i="0">
                <a:solidFill>
                  <a:srgbClr val="58408F"/>
                </a:solidFill>
                <a:latin typeface="Calibri"/>
              </a:rPr>
              <a:t>online, where offered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3218688" y="2737104"/>
            <a:ext cx="1143000" cy="697991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900" b="1" i="0">
                <a:solidFill>
                  <a:srgbClr val="58408F"/>
                </a:solidFill>
                <a:latin typeface="Calibri"/>
              </a:rPr>
              <a:t>Verification letter</a:t>
            </a:r>
          </a:p>
          <a:p>
            <a:pPr algn="ctr" marL="0" indent="0">
              <a:buNone/>
            </a:pPr>
            <a:r>
              <a:rPr sz="750" b="0" i="0">
                <a:solidFill>
                  <a:srgbClr val="58408F"/>
                </a:solidFill>
                <a:latin typeface="Calibri"/>
              </a:rPr>
              <a:t>reply recorded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218688" y="3508247"/>
            <a:ext cx="1143000" cy="697991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900" b="1" i="0">
                <a:solidFill>
                  <a:srgbClr val="58408F"/>
                </a:solidFill>
                <a:latin typeface="Calibri"/>
              </a:rPr>
              <a:t>Re-confirm</a:t>
            </a:r>
          </a:p>
          <a:p>
            <a:pPr algn="ctr" marL="0" indent="0">
              <a:buNone/>
            </a:pPr>
            <a:r>
              <a:rPr sz="750" b="0" i="0">
                <a:solidFill>
                  <a:srgbClr val="58408F"/>
                </a:solidFill>
                <a:latin typeface="Calibri"/>
              </a:rPr>
              <a:t>every 180 days</a:t>
            </a:r>
          </a:p>
        </p:txBody>
      </p:sp>
      <p:cxnSp>
        <p:nvCxnSpPr>
          <p:cNvPr id="17429" name="Connector 17428"/>
          <p:cNvCxnSpPr/>
          <p:nvPr/>
        </p:nvCxnSpPr>
        <p:spPr>
          <a:xfrm>
            <a:off x="4425696" y="3081528"/>
            <a:ext cx="13716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0" name="Chevron 17429"/>
          <p:cNvSpPr/>
          <p:nvPr/>
        </p:nvSpPr>
        <p:spPr>
          <a:xfrm>
            <a:off x="4572000" y="1508760"/>
            <a:ext cx="1252728" cy="329184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1050" b="1" i="0">
                <a:solidFill>
                  <a:srgbClr val="FFFFFF"/>
                </a:solidFill>
                <a:latin typeface="Calibri"/>
              </a:rPr>
              <a:t>4  Hold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572000" y="1920240"/>
            <a:ext cx="1252728" cy="2331720"/>
          </a:xfrm>
          <a:prstGeom prst="roundRect">
            <a:avLst>
              <a:gd name="adj" fmla="val 4379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2" name="Rounded Rectangle 17431"/>
          <p:cNvSpPr/>
          <p:nvPr/>
        </p:nvSpPr>
        <p:spPr>
          <a:xfrm>
            <a:off x="4626864" y="1965960"/>
            <a:ext cx="1143000" cy="697991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900" b="1" i="0">
                <a:solidFill>
                  <a:srgbClr val="1F3A5F"/>
                </a:solidFill>
                <a:latin typeface="Calibri"/>
              </a:rPr>
              <a:t>Maturity monitor</a:t>
            </a:r>
          </a:p>
          <a:p>
            <a:pPr algn="ctr" marL="0" indent="0">
              <a:buNone/>
            </a:pPr>
            <a:r>
              <a:rPr sz="750" b="0" i="0">
                <a:solidFill>
                  <a:srgbClr val="1F3A5F"/>
                </a:solidFill>
                <a:latin typeface="Calibri"/>
              </a:rPr>
              <a:t>90/60/30/7 days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626864" y="2737104"/>
            <a:ext cx="1143000" cy="697991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900" b="1" i="0">
                <a:solidFill>
                  <a:srgbClr val="1F3A5F"/>
                </a:solidFill>
                <a:latin typeface="Calibri"/>
              </a:rPr>
              <a:t>Escalation</a:t>
            </a:r>
          </a:p>
          <a:p>
            <a:pPr algn="ctr" marL="0" indent="0">
              <a:buNone/>
            </a:pPr>
            <a:r>
              <a:rPr sz="750" b="0" i="0">
                <a:solidFill>
                  <a:srgbClr val="1F3A5F"/>
                </a:solidFill>
                <a:latin typeface="Calibri"/>
              </a:rPr>
              <a:t>RB head → CA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626864" y="3508247"/>
            <a:ext cx="1143000" cy="697991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900" b="1" i="0">
                <a:solidFill>
                  <a:srgbClr val="1F3A5F"/>
                </a:solidFill>
                <a:latin typeface="Calibri"/>
              </a:rPr>
              <a:t>Late-renewal</a:t>
            </a:r>
          </a:p>
          <a:p>
            <a:pPr algn="ctr" marL="0" indent="0">
              <a:buNone/>
            </a:pPr>
            <a:r>
              <a:rPr sz="750" b="0" i="0">
                <a:solidFill>
                  <a:srgbClr val="1F3A5F"/>
                </a:solidFill>
                <a:latin typeface="Calibri"/>
              </a:rPr>
              <a:t>risk score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5833872" y="3081528"/>
            <a:ext cx="13716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6" name="Chevron 17435"/>
          <p:cNvSpPr/>
          <p:nvPr/>
        </p:nvSpPr>
        <p:spPr>
          <a:xfrm>
            <a:off x="5980176" y="1508760"/>
            <a:ext cx="1252728" cy="329184"/>
          </a:xfrm>
          <a:prstGeom prst="chevron">
            <a:avLst/>
          </a:prstGeom>
          <a:solidFill>
            <a:srgbClr val="13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1050" b="1" i="0">
                <a:solidFill>
                  <a:srgbClr val="FFFFFF"/>
                </a:solidFill>
                <a:latin typeface="Calibri"/>
              </a:rPr>
              <a:t>5  Close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5980176" y="1920240"/>
            <a:ext cx="1252728" cy="2331720"/>
          </a:xfrm>
          <a:prstGeom prst="roundRect">
            <a:avLst>
              <a:gd name="adj" fmla="val 4379"/>
            </a:avLst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8" name="Rounded Rectangle 17437"/>
          <p:cNvSpPr/>
          <p:nvPr/>
        </p:nvSpPr>
        <p:spPr>
          <a:xfrm>
            <a:off x="6035040" y="1965960"/>
            <a:ext cx="1143000" cy="697991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900" b="1" i="0">
                <a:solidFill>
                  <a:srgbClr val="137A4B"/>
                </a:solidFill>
                <a:latin typeface="Calibri"/>
              </a:rPr>
              <a:t>Renewal</a:t>
            </a:r>
          </a:p>
          <a:p>
            <a:pPr algn="ctr" marL="0" indent="0">
              <a:buNone/>
            </a:pPr>
            <a:r>
              <a:rPr sz="750" b="0" i="0">
                <a:solidFill>
                  <a:srgbClr val="137A4B"/>
                </a:solidFill>
                <a:latin typeface="Calibri"/>
              </a:rPr>
              <a:t>replaces old FDR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035040" y="2737104"/>
            <a:ext cx="1143000" cy="697991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900" b="1" i="0">
                <a:solidFill>
                  <a:srgbClr val="137A4B"/>
                </a:solidFill>
                <a:latin typeface="Calibri"/>
              </a:rPr>
              <a:t>Release</a:t>
            </a:r>
          </a:p>
          <a:p>
            <a:pPr algn="ctr" marL="0" indent="0">
              <a:buNone/>
            </a:pPr>
            <a:r>
              <a:rPr sz="750" b="0" i="0">
                <a:solidFill>
                  <a:srgbClr val="137A4B"/>
                </a:solidFill>
                <a:latin typeface="Calibri"/>
              </a:rPr>
              <a:t>maker-checker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6035040" y="3508247"/>
            <a:ext cx="1143000" cy="697991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900" b="1" i="0">
                <a:solidFill>
                  <a:srgbClr val="137A4B"/>
                </a:solidFill>
                <a:latin typeface="Calibri"/>
              </a:rPr>
              <a:t>Lien-release</a:t>
            </a:r>
          </a:p>
          <a:p>
            <a:pPr algn="ctr" marL="0" indent="0">
              <a:buNone/>
            </a:pPr>
            <a:r>
              <a:rPr sz="750" b="0" i="0">
                <a:solidFill>
                  <a:srgbClr val="137A4B"/>
                </a:solidFill>
                <a:latin typeface="Calibri"/>
              </a:rPr>
              <a:t>letter to bank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347472" y="4325112"/>
            <a:ext cx="6885432" cy="329184"/>
          </a:xfrm>
          <a:prstGeom prst="roundRect">
            <a:avLst>
              <a:gd name="adj" fmla="val 11111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950" b="1" i="0">
                <a:solidFill>
                  <a:srgbClr val="FFFFFF"/>
                </a:solidFill>
                <a:latin typeface="Calibri"/>
              </a:rPr>
              <a:t>Foundation: SHA-256 hash-chained ledger  ·  PostgreSQL  ·  audit log  ·  fingerprinted files  ·  8 roles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347472" y="4800600"/>
            <a:ext cx="3291840" cy="219456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200"/>
              </a:spcAft>
              <a:buNone/>
            </a:pPr>
            <a:r>
              <a:rPr sz="950" b="1" i="0">
                <a:solidFill>
                  <a:srgbClr val="1F3A5F"/>
                </a:solidFill>
                <a:latin typeface="Calibri"/>
              </a:rPr>
              <a:t>Release: no one approves their own recommendation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347472" y="5047488"/>
            <a:ext cx="1303934" cy="384048"/>
          </a:xfrm>
          <a:prstGeom prst="roundRect">
            <a:avLst>
              <a:gd name="adj" fmla="val 9523"/>
            </a:avLst>
          </a:prstGeom>
          <a:solidFill>
            <a:srgbClr val="12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850" b="1" i="0">
                <a:solidFill>
                  <a:srgbClr val="FFFFFF"/>
                </a:solidFill>
                <a:latin typeface="Calibri"/>
              </a:rPr>
              <a:t>Institution requests</a:t>
            </a:r>
          </a:p>
        </p:txBody>
      </p:sp>
      <p:cxnSp>
        <p:nvCxnSpPr>
          <p:cNvPr id="17444" name="Connector 17443"/>
          <p:cNvCxnSpPr/>
          <p:nvPr/>
        </p:nvCxnSpPr>
        <p:spPr>
          <a:xfrm>
            <a:off x="1655978" y="5239512"/>
            <a:ext cx="82296" cy="0"/>
          </a:xfrm>
          <a:prstGeom prst="line">
            <a:avLst/>
          </a:prstGeom>
          <a:ln w="15875">
            <a:solidFill>
              <a:srgbClr val="47556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5" name="Rounded Rectangle 17444"/>
          <p:cNvSpPr/>
          <p:nvPr/>
        </p:nvSpPr>
        <p:spPr>
          <a:xfrm>
            <a:off x="1742846" y="5047488"/>
            <a:ext cx="1303934" cy="384048"/>
          </a:xfrm>
          <a:prstGeom prst="roundRect">
            <a:avLst>
              <a:gd name="adj" fmla="val 9523"/>
            </a:avLst>
          </a:prstGeom>
          <a:solidFill>
            <a:srgbClr val="12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850" b="1" i="0">
                <a:solidFill>
                  <a:srgbClr val="FFFFFF"/>
                </a:solidFill>
                <a:latin typeface="Calibri"/>
              </a:rPr>
              <a:t>RB checks 4 conditions</a:t>
            </a:r>
          </a:p>
        </p:txBody>
      </p:sp>
      <p:cxnSp>
        <p:nvCxnSpPr>
          <p:cNvPr id="17446" name="Connector 17445"/>
          <p:cNvCxnSpPr/>
          <p:nvPr/>
        </p:nvCxnSpPr>
        <p:spPr>
          <a:xfrm>
            <a:off x="3051352" y="5239512"/>
            <a:ext cx="82296" cy="0"/>
          </a:xfrm>
          <a:prstGeom prst="line">
            <a:avLst/>
          </a:prstGeom>
          <a:ln w="15875">
            <a:solidFill>
              <a:srgbClr val="47556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7" name="Rounded Rectangle 17446"/>
          <p:cNvSpPr/>
          <p:nvPr/>
        </p:nvSpPr>
        <p:spPr>
          <a:xfrm>
            <a:off x="3138220" y="5047488"/>
            <a:ext cx="1303934" cy="384048"/>
          </a:xfrm>
          <a:prstGeom prst="roundRect">
            <a:avLst>
              <a:gd name="adj" fmla="val 9523"/>
            </a:avLst>
          </a:prstGeom>
          <a:solidFill>
            <a:srgbClr val="12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850" b="1" i="0">
                <a:solidFill>
                  <a:srgbClr val="FFFFFF"/>
                </a:solidFill>
                <a:latin typeface="Calibri"/>
              </a:rPr>
              <a:t>RB recommends</a:t>
            </a:r>
          </a:p>
        </p:txBody>
      </p:sp>
      <p:cxnSp>
        <p:nvCxnSpPr>
          <p:cNvPr id="17448" name="Connector 17447"/>
          <p:cNvCxnSpPr/>
          <p:nvPr/>
        </p:nvCxnSpPr>
        <p:spPr>
          <a:xfrm>
            <a:off x="4446727" y="5239512"/>
            <a:ext cx="82296" cy="0"/>
          </a:xfrm>
          <a:prstGeom prst="line">
            <a:avLst/>
          </a:prstGeom>
          <a:ln w="15875">
            <a:solidFill>
              <a:srgbClr val="47556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9" name="Rounded Rectangle 17448"/>
          <p:cNvSpPr/>
          <p:nvPr/>
        </p:nvSpPr>
        <p:spPr>
          <a:xfrm>
            <a:off x="4533595" y="5047488"/>
            <a:ext cx="1303934" cy="384048"/>
          </a:xfrm>
          <a:prstGeom prst="roundRect">
            <a:avLst>
              <a:gd name="adj" fmla="val 9523"/>
            </a:avLst>
          </a:prstGeom>
          <a:solidFill>
            <a:srgbClr val="584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850" b="1" i="0">
                <a:solidFill>
                  <a:srgbClr val="FFFFFF"/>
                </a:solidFill>
                <a:latin typeface="Calibri"/>
              </a:rPr>
              <a:t>Competent authority approves</a:t>
            </a:r>
          </a:p>
        </p:txBody>
      </p:sp>
      <p:cxnSp>
        <p:nvCxnSpPr>
          <p:cNvPr id="17450" name="Connector 17449"/>
          <p:cNvCxnSpPr/>
          <p:nvPr/>
        </p:nvCxnSpPr>
        <p:spPr>
          <a:xfrm>
            <a:off x="5842101" y="5239512"/>
            <a:ext cx="82296" cy="0"/>
          </a:xfrm>
          <a:prstGeom prst="line">
            <a:avLst/>
          </a:prstGeom>
          <a:ln w="15875">
            <a:solidFill>
              <a:srgbClr val="47556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1" name="Rounded Rectangle 17450"/>
          <p:cNvSpPr/>
          <p:nvPr/>
        </p:nvSpPr>
        <p:spPr>
          <a:xfrm>
            <a:off x="5928969" y="5047488"/>
            <a:ext cx="1303934" cy="384048"/>
          </a:xfrm>
          <a:prstGeom prst="roundRect">
            <a:avLst>
              <a:gd name="adj" fmla="val 9523"/>
            </a:avLst>
          </a:prstGeom>
          <a:solidFill>
            <a:srgbClr val="13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850" b="1" i="0">
                <a:solidFill>
                  <a:srgbClr val="FFFFFF"/>
                </a:solidFill>
                <a:latin typeface="Calibri"/>
              </a:rPr>
              <a:t>Accounts releases lien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347472" y="5477256"/>
            <a:ext cx="6885432" cy="27432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200"/>
              </a:spcAft>
              <a:buNone/>
            </a:pPr>
            <a:r>
              <a:rPr sz="850" b="0" i="0">
                <a:solidFill>
                  <a:srgbClr val="475569"/>
                </a:solidFill>
                <a:latin typeface="Calibri"/>
              </a:rPr>
              <a:t>Every step is sealed in the deposit's own hash chain and in one system ledger; any later edit is detected and located.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7680960" y="1280160"/>
            <a:ext cx="4279392" cy="224028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4" name="Rounded Rectangle 17453"/>
          <p:cNvSpPr/>
          <p:nvPr/>
        </p:nvSpPr>
        <p:spPr>
          <a:xfrm>
            <a:off x="7772400" y="1161288"/>
            <a:ext cx="3447288" cy="246888"/>
          </a:xfrm>
          <a:prstGeom prst="roundRect">
            <a:avLst>
              <a:gd name="adj" fmla="val 14814"/>
            </a:avLst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Declared · document · bank, field by field</a:t>
            </a:r>
          </a:p>
        </p:txBody>
      </p:sp>
      <p:graphicFrame>
        <p:nvGraphicFramePr>
          <p:cNvPr id="17455" name="Table 17454"/>
          <p:cNvGraphicFramePr>
            <a:graphicFrameLocks noGrp="1"/>
          </p:cNvGraphicFramePr>
          <p:nvPr/>
        </p:nvGraphicFramePr>
        <p:xfrm>
          <a:off x="7772400" y="1508760"/>
          <a:ext cx="4096512" cy="131673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77240"/>
                <a:gridCol w="1188720"/>
                <a:gridCol w="987552"/>
                <a:gridCol w="114300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45720" marR="45720" marT="18288" marB="18288" anchor="ctr">
                    <a:solidFill>
                      <a:srgbClr val="C257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Declared</a:t>
                      </a:r>
                    </a:p>
                  </a:txBody>
                  <a:tcPr marL="45720" marR="45720" marT="18288" marB="18288" anchor="ctr">
                    <a:solidFill>
                      <a:srgbClr val="C257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FDR copy</a:t>
                      </a:r>
                    </a:p>
                  </a:txBody>
                  <a:tcPr marL="45720" marR="45720" marT="18288" marB="18288" anchor="ctr">
                    <a:solidFill>
                      <a:srgbClr val="C257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Bank</a:t>
                      </a:r>
                    </a:p>
                  </a:txBody>
                  <a:tcPr marL="45720" marR="45720" marT="18288" marB="18288" anchor="ctr">
                    <a:solidFill>
                      <a:srgbClr val="C2570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E293B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E293B"/>
                          </a:solidFill>
                          <a:latin typeface="Calibri"/>
                        </a:rPr>
                        <a:t>₹5,00,000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E293B"/>
                          </a:solidFill>
                          <a:latin typeface="Calibri"/>
                        </a:rPr>
                        <a:t>₹50,000 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E293B"/>
                          </a:solidFill>
                          <a:latin typeface="Calibri"/>
                        </a:rPr>
                        <a:t>₹5,00,000 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E293B"/>
                          </a:solidFill>
                          <a:latin typeface="Calibri"/>
                        </a:rPr>
                        <a:t>Depositor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E293B"/>
                          </a:solidFill>
                          <a:latin typeface="Calibri"/>
                        </a:rPr>
                        <a:t>Tapasya Edu. Society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E293B"/>
                          </a:solidFill>
                          <a:latin typeface="Calibri"/>
                        </a:rPr>
                        <a:t>same ✓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E293B"/>
                          </a:solidFill>
                          <a:latin typeface="Calibri"/>
                        </a:rPr>
                        <a:t>other trust ✗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E293B"/>
                          </a:solidFill>
                          <a:latin typeface="Calibri"/>
                        </a:rPr>
                        <a:t>Lien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E293B"/>
                          </a:solidFill>
                          <a:latin typeface="Calibri"/>
                        </a:rPr>
                        <a:t>MS, AICTE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E293B"/>
                          </a:solidFill>
                          <a:latin typeface="Calibri"/>
                        </a:rPr>
                        <a:t>MS, AICTE 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E293B"/>
                          </a:solidFill>
                          <a:latin typeface="Calibri"/>
                        </a:rPr>
                        <a:t>MS, AICTE 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56" name="TextBox 17455"/>
          <p:cNvSpPr txBox="1"/>
          <p:nvPr/>
        </p:nvSpPr>
        <p:spPr>
          <a:xfrm>
            <a:off x="7772400" y="2880360"/>
            <a:ext cx="4096511" cy="36576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200"/>
              </a:spcAft>
              <a:buNone/>
            </a:pPr>
            <a:r>
              <a:rPr sz="850" b="0" i="0">
                <a:solidFill>
                  <a:srgbClr val="475569"/>
                </a:solidFill>
                <a:latin typeface="Calibri"/>
              </a:rPr>
              <a:t>Banks with an online service answer through a connector (simulated in the demo); others get a letter and the officer records the reply.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7680960" y="3703320"/>
            <a:ext cx="427939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8" name="Rounded Rectangle 17457"/>
          <p:cNvSpPr/>
          <p:nvPr/>
        </p:nvSpPr>
        <p:spPr>
          <a:xfrm>
            <a:off x="7772400" y="3584448"/>
            <a:ext cx="1426464" cy="246888"/>
          </a:xfrm>
          <a:prstGeom prst="roundRect">
            <a:avLst>
              <a:gd name="adj" fmla="val 14814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7772400" y="3904487"/>
            <a:ext cx="4096511" cy="192024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200"/>
              </a:spcAft>
              <a:buNone/>
            </a:pPr>
            <a:r>
              <a:rPr sz="950" b="1" i="0">
                <a:solidFill>
                  <a:srgbClr val="1F3A5F"/>
                </a:solidFill>
                <a:latin typeface="Calibri"/>
              </a:rPr>
              <a:t>Front end: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 React 19, TypeScript, Vite, Tailwind CSS 4, TanStack Query, Recharts; Hindi and English</a:t>
            </a:r>
          </a:p>
          <a:p>
            <a:pPr algn="l" marL="0" indent="0">
              <a:spcAft>
                <a:spcPts val="200"/>
              </a:spcAft>
              <a:buNone/>
            </a:pPr>
            <a:r>
              <a:rPr sz="950" b="1" i="0">
                <a:solidFill>
                  <a:srgbClr val="1F3A5F"/>
                </a:solidFill>
                <a:latin typeface="Calibri"/>
              </a:rPr>
              <a:t>Back end: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 Python, FastAPI, SQLAlchemy 2, Alembic; live updates by Server-Sent Events</a:t>
            </a:r>
          </a:p>
          <a:p>
            <a:pPr algn="l" marL="0" indent="0">
              <a:spcAft>
                <a:spcPts val="200"/>
              </a:spcAft>
              <a:buNone/>
            </a:pPr>
            <a:r>
              <a:rPr sz="950" b="1" i="0">
                <a:solidFill>
                  <a:srgbClr val="1F3A5F"/>
                </a:solidFill>
                <a:latin typeface="Calibri"/>
              </a:rPr>
              <a:t>Documents: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 pypdf and Tesseract OCR (reading FDR copies, scans, photos), ReportLab (letters, QR codes, PDF reports), openpyxl</a:t>
            </a:r>
          </a:p>
          <a:p>
            <a:pPr algn="l" marL="0" indent="0">
              <a:spcAft>
                <a:spcPts val="200"/>
              </a:spcAft>
              <a:buNone/>
            </a:pPr>
            <a:r>
              <a:rPr sz="950" b="1" i="0">
                <a:solidFill>
                  <a:srgbClr val="1F3A5F"/>
                </a:solidFill>
                <a:latin typeface="Calibri"/>
              </a:rPr>
              <a:t>AI/ML, all offline: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 scikit-learn gradient boosting, RapidFuzz name matching</a:t>
            </a:r>
          </a:p>
          <a:p>
            <a:pPr algn="l" marL="0" indent="0">
              <a:spcAft>
                <a:spcPts val="200"/>
              </a:spcAft>
              <a:buNone/>
            </a:pPr>
            <a:r>
              <a:rPr sz="950" b="1" i="0">
                <a:solidFill>
                  <a:srgbClr val="1F3A5F"/>
                </a:solidFill>
                <a:latin typeface="Calibri"/>
              </a:rPr>
              <a:t>Security: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 AES-256-GCM encryption of stored files, SHA-256 hash chain, bcrypt + JWT</a:t>
            </a:r>
          </a:p>
          <a:p>
            <a:pPr algn="l" marL="0" indent="0">
              <a:spcAft>
                <a:spcPts val="200"/>
              </a:spcAft>
              <a:buNone/>
            </a:pPr>
            <a:r>
              <a:rPr sz="950" b="1" i="0">
                <a:solidFill>
                  <a:srgbClr val="1F3A5F"/>
                </a:solidFill>
                <a:latin typeface="Calibri"/>
              </a:rPr>
              <a:t>Data and ops: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 PostgreSQL 16 or SQLite, Docker, Playwright browser tests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@SignalNine  ·  Nidhi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SignalNine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28600" y="1207008"/>
            <a:ext cx="2864358" cy="713232"/>
          </a:xfrm>
          <a:prstGeom prst="roundRect">
            <a:avLst>
              <a:gd name="adj" fmla="val 7692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301752" y="1216152"/>
            <a:ext cx="1280160" cy="68580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 marL="0" indent="0">
              <a:spcAft>
                <a:spcPts val="200"/>
              </a:spcAft>
              <a:buNone/>
            </a:pPr>
            <a:r>
              <a:rPr sz="1900" b="1" i="0">
                <a:solidFill>
                  <a:srgbClr val="0B5CAD"/>
                </a:solidFill>
                <a:latin typeface="Calibri"/>
              </a:rPr>
              <a:t>1.00 / 1.00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1554480" y="1216152"/>
            <a:ext cx="1492757" cy="68580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850" b="0" i="0">
                <a:solidFill>
                  <a:srgbClr val="475569"/>
                </a:solidFill>
                <a:latin typeface="Calibri"/>
              </a:rPr>
              <a:t>precision / recall of the checks on 500 test deposits with planted faults; </a:t>
            </a:r>
            <a:r>
              <a:rPr sz="850" b="1" i="0">
                <a:solidFill>
                  <a:srgbClr val="137A4B"/>
                </a:solidFill>
                <a:latin typeface="Calibri"/>
              </a:rPr>
              <a:t>0 of 50</a:t>
            </a:r>
            <a:r>
              <a:rPr sz="850" b="0" i="0">
                <a:solidFill>
                  <a:srgbClr val="475569"/>
                </a:solidFill>
                <a:latin typeface="Calibri"/>
              </a:rPr>
              <a:t> clean ones flagged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184398" y="1207008"/>
            <a:ext cx="2864358" cy="713232"/>
          </a:xfrm>
          <a:prstGeom prst="roundRect">
            <a:avLst>
              <a:gd name="adj" fmla="val 7692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3257550" y="1216152"/>
            <a:ext cx="1280160" cy="68580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 marL="0" indent="0">
              <a:spcAft>
                <a:spcPts val="200"/>
              </a:spcAft>
              <a:buNone/>
            </a:pPr>
            <a:r>
              <a:rPr sz="1900" b="1" i="0">
                <a:solidFill>
                  <a:srgbClr val="0B5CAD"/>
                </a:solidFill>
                <a:latin typeface="Calibri"/>
              </a:rPr>
              <a:t>100%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510278" y="1216152"/>
            <a:ext cx="1492757" cy="68580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850" b="0" i="0">
                <a:solidFill>
                  <a:srgbClr val="475569"/>
                </a:solidFill>
                <a:latin typeface="Calibri"/>
              </a:rPr>
              <a:t>of fields read correctly from 300 test FDR copies in 3 bank layouts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40196" y="1207008"/>
            <a:ext cx="2864358" cy="713232"/>
          </a:xfrm>
          <a:prstGeom prst="roundRect">
            <a:avLst>
              <a:gd name="adj" fmla="val 7692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6213348" y="1216152"/>
            <a:ext cx="1280160" cy="68580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 marL="0" indent="0">
              <a:spcAft>
                <a:spcPts val="200"/>
              </a:spcAft>
              <a:buNone/>
            </a:pPr>
            <a:r>
              <a:rPr sz="1900" b="1" i="0">
                <a:solidFill>
                  <a:srgbClr val="0B5CAD"/>
                </a:solidFill>
                <a:latin typeface="Calibri"/>
              </a:rPr>
              <a:t>81%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7466075" y="1216152"/>
            <a:ext cx="1492757" cy="68580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850" b="0" i="0">
                <a:solidFill>
                  <a:srgbClr val="475569"/>
                </a:solidFill>
                <a:latin typeface="Calibri"/>
              </a:rPr>
              <a:t>of the top 10% flagged by the late-renewal model renewed late (base rate 44%; AUC 0.65)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9095994" y="1207008"/>
            <a:ext cx="2864358" cy="713232"/>
          </a:xfrm>
          <a:prstGeom prst="roundRect">
            <a:avLst>
              <a:gd name="adj" fmla="val 7692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9169146" y="1216152"/>
            <a:ext cx="1280160" cy="68580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 marL="0" indent="0">
              <a:spcAft>
                <a:spcPts val="200"/>
              </a:spcAft>
              <a:buNone/>
            </a:pPr>
            <a:r>
              <a:rPr sz="1900" b="1" i="0">
                <a:solidFill>
                  <a:srgbClr val="0B5CAD"/>
                </a:solidFill>
                <a:latin typeface="Calibri"/>
              </a:rPr>
              <a:t>~1 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10421874" y="1216152"/>
            <a:ext cx="1492757" cy="68580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850" b="0" i="0">
                <a:solidFill>
                  <a:srgbClr val="475569"/>
                </a:solidFill>
                <a:latin typeface="Calibri"/>
              </a:rPr>
              <a:t>to re-verify all 15,091 sealed ledger entries and 1,849 deposit histories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228600" y="2148840"/>
            <a:ext cx="388620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Rounded Rectangle 17422"/>
          <p:cNvSpPr/>
          <p:nvPr/>
        </p:nvSpPr>
        <p:spPr>
          <a:xfrm>
            <a:off x="320040" y="2029968"/>
            <a:ext cx="1037844" cy="246888"/>
          </a:xfrm>
          <a:prstGeom prst="roundRect">
            <a:avLst>
              <a:gd name="adj" fmla="val 14814"/>
            </a:avLst>
          </a:prstGeom>
          <a:solidFill>
            <a:srgbClr val="13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Feasibility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301752" y="2331720"/>
            <a:ext cx="3749039" cy="352044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150"/>
              </a:spcAft>
              <a:buNone/>
            </a:pPr>
            <a:r>
              <a:rPr sz="950" b="1" i="0">
                <a:solidFill>
                  <a:srgbClr val="137A4B"/>
                </a:solidFill>
                <a:latin typeface="Calibri"/>
              </a:rPr>
              <a:t>Technical</a:t>
            </a:r>
          </a:p>
          <a:p>
            <a:pPr algn="l" marL="128016" indent="-128016">
              <a:spcAft>
                <a:spcPts val="150"/>
              </a:spcAft>
              <a:buClr>
                <a:srgbClr val="1F3A5F"/>
              </a:buClr>
              <a:buFont typeface="Arial"/>
              <a:buChar char="•"/>
            </a:pPr>
            <a:r>
              <a:rPr sz="950" b="0" i="0">
                <a:solidFill>
                  <a:srgbClr val="1E293B"/>
                </a:solidFill>
                <a:latin typeface="Calibri"/>
              </a:rPr>
              <a:t>Built and running; every number above is re-measured on the Proof page. Open-source stack on one server, NIC cloud or a state data centre.</a:t>
            </a:r>
          </a:p>
          <a:p>
            <a:pPr algn="l" marL="0" indent="0">
              <a:spcAft>
                <a:spcPts val="150"/>
              </a:spcAft>
              <a:buNone/>
            </a:pPr>
            <a:r>
              <a:rPr sz="950" b="1" i="0">
                <a:solidFill>
                  <a:srgbClr val="137A4B"/>
                </a:solidFill>
                <a:latin typeface="Calibri"/>
              </a:rPr>
              <a:t>Operational</a:t>
            </a:r>
          </a:p>
          <a:p>
            <a:pPr algn="l" marL="128016" indent="-128016">
              <a:spcAft>
                <a:spcPts val="150"/>
              </a:spcAft>
              <a:buClr>
                <a:srgbClr val="1F3A5F"/>
              </a:buClr>
              <a:buFont typeface="Arial"/>
              <a:buChar char="•"/>
            </a:pPr>
            <a:r>
              <a:rPr sz="950" b="0" i="0">
                <a:solidFill>
                  <a:srgbClr val="1E293B"/>
                </a:solidFill>
                <a:latin typeface="Calibri"/>
              </a:rPr>
              <a:t>Institutions lodge and track their own deposits; officers stop retyping. Bank letters, rectification notices and lien releases are generated.</a:t>
            </a:r>
          </a:p>
          <a:p>
            <a:pPr algn="l" marL="0" indent="0">
              <a:spcAft>
                <a:spcPts val="150"/>
              </a:spcAft>
              <a:buNone/>
            </a:pPr>
            <a:r>
              <a:rPr sz="950" b="1" i="0">
                <a:solidFill>
                  <a:srgbClr val="137A4B"/>
                </a:solidFill>
                <a:latin typeface="Calibri"/>
              </a:rPr>
              <a:t>Economic</a:t>
            </a:r>
          </a:p>
          <a:p>
            <a:pPr algn="l" marL="128016" indent="-128016">
              <a:spcAft>
                <a:spcPts val="150"/>
              </a:spcAft>
              <a:buClr>
                <a:srgbClr val="1F3A5F"/>
              </a:buClr>
              <a:buFont typeface="Arial"/>
              <a:buChar char="•"/>
            </a:pPr>
            <a:r>
              <a:rPr sz="950" b="0" i="0">
                <a:solidFill>
                  <a:srgbClr val="1E293B"/>
                </a:solidFill>
                <a:latin typeface="Calibri"/>
              </a:rPr>
              <a:t>No licence fees and no per-use AI charges; the bank connector is the only integration cost.</a:t>
            </a:r>
          </a:p>
          <a:p>
            <a:pPr algn="l" marL="0" indent="0">
              <a:spcAft>
                <a:spcPts val="150"/>
              </a:spcAft>
              <a:buNone/>
            </a:pPr>
            <a:r>
              <a:rPr sz="950" b="1" i="0">
                <a:solidFill>
                  <a:srgbClr val="137A4B"/>
                </a:solidFill>
                <a:latin typeface="Calibri"/>
              </a:rPr>
              <a:t>Legal and data</a:t>
            </a:r>
          </a:p>
          <a:p>
            <a:pPr algn="l" marL="128016" indent="-128016">
              <a:spcAft>
                <a:spcPts val="150"/>
              </a:spcAft>
              <a:buClr>
                <a:srgbClr val="1F3A5F"/>
              </a:buClr>
              <a:buFont typeface="Arial"/>
              <a:buChar char="•"/>
            </a:pPr>
            <a:r>
              <a:rPr sz="950" b="1" i="0">
                <a:solidFill>
                  <a:srgbClr val="1F3A5F"/>
                </a:solidFill>
                <a:latin typeface="Calibri"/>
              </a:rPr>
              <a:t>DPDP Act 2023: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 data stays on AICTE's server; files encrypted at rest; institutions see only their own records; contact details masked for read-only roles; every export logged.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251960" y="2148840"/>
            <a:ext cx="470916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Rounded Rectangle 17425"/>
          <p:cNvSpPr/>
          <p:nvPr/>
        </p:nvSpPr>
        <p:spPr>
          <a:xfrm>
            <a:off x="4343400" y="2029968"/>
            <a:ext cx="2747772" cy="246888"/>
          </a:xfrm>
          <a:prstGeom prst="roundRect">
            <a:avLst>
              <a:gd name="adj" fmla="val 14814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Challenges and how we handle them</a:t>
            </a:r>
          </a:p>
        </p:txBody>
      </p:sp>
      <p:graphicFrame>
        <p:nvGraphicFramePr>
          <p:cNvPr id="17427" name="Table 17426"/>
          <p:cNvGraphicFramePr>
            <a:graphicFrameLocks noGrp="1"/>
          </p:cNvGraphicFramePr>
          <p:nvPr/>
        </p:nvGraphicFramePr>
        <p:xfrm>
          <a:off x="4343400" y="2377440"/>
          <a:ext cx="4526280" cy="3200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00200"/>
                <a:gridCol w="29260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 marL="45720" marR="45720" marT="18288" marB="18288" anchor="ctr">
                    <a:solidFill>
                      <a:srgbClr val="B423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Mitigation built into Nidhi</a:t>
                      </a:r>
                    </a:p>
                  </a:txBody>
                  <a:tcPr marL="45720" marR="45720" marT="18288" marB="18288" anchor="ctr">
                    <a:solidFill>
                      <a:srgbClr val="B4231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E293B"/>
                          </a:solidFill>
                          <a:latin typeface="Calibri"/>
                        </a:rPr>
                        <a:t>No online FDR verification at many banks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E293B"/>
                          </a:solidFill>
                          <a:latin typeface="Calibri"/>
                        </a:rPr>
                        <a:t>Letter route with QR; officer records the reply; online connector where a bank offers one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E293B"/>
                          </a:solidFill>
                          <a:latin typeface="Calibri"/>
                        </a:rPr>
                        <a:t>Altered or reused FDR copies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E293B"/>
                          </a:solidFill>
                          <a:latin typeface="Calibri"/>
                        </a:rPr>
                        <a:t>Copy read and compared on lodging; FDR and file fingerprints checked across all institutions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E293B"/>
                          </a:solidFill>
                          <a:latin typeface="Calibri"/>
                        </a:rPr>
                        <a:t>FDR closed at the branch after acceptance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E293B"/>
                          </a:solidFill>
                          <a:latin typeface="Calibri"/>
                        </a:rPr>
                        <a:t>Every held FDR re-confirmed with the bank every 180 days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E293B"/>
                          </a:solidFill>
                          <a:latin typeface="Calibri"/>
                        </a:rPr>
                        <a:t>Renewals noticed too late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E293B"/>
                          </a:solidFill>
                          <a:latin typeface="Calibri"/>
                        </a:rPr>
                        <a:t>Reminders from 90 days; escalation at 15 and 45 days; likely-late list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E293B"/>
                          </a:solidFill>
                          <a:latin typeface="Calibri"/>
                        </a:rPr>
                        <a:t>Release without authority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E293B"/>
                          </a:solidFill>
                          <a:latin typeface="Calibri"/>
                        </a:rPr>
                        <a:t>Four conditions, maker-checker, approver ≠ recommender, sealed history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E293B"/>
                          </a:solidFill>
                          <a:latin typeface="Calibri"/>
                        </a:rPr>
                        <a:t>Scanned copies and phone photos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E293B"/>
                          </a:solidFill>
                          <a:latin typeface="Calibri"/>
                        </a:rPr>
                        <a:t>Tesseract OCR on the server: 99.6% of fields on 45 test scans; officer and bank remain the backstop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7428" name="Rounded Rectangle 17427"/>
          <p:cNvSpPr/>
          <p:nvPr/>
        </p:nvSpPr>
        <p:spPr>
          <a:xfrm>
            <a:off x="9098280" y="2148840"/>
            <a:ext cx="2862072" cy="3703320"/>
          </a:xfrm>
          <a:prstGeom prst="roundRect">
            <a:avLst>
              <a:gd name="adj" fmla="val 1916"/>
            </a:avLst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Rounded Rectangle 17428"/>
          <p:cNvSpPr/>
          <p:nvPr/>
        </p:nvSpPr>
        <p:spPr>
          <a:xfrm>
            <a:off x="9189719" y="2029968"/>
            <a:ext cx="1892808" cy="246888"/>
          </a:xfrm>
          <a:prstGeom prst="roundRect">
            <a:avLst>
              <a:gd name="adj" fmla="val 14814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Viability and roll-out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9189720" y="2377440"/>
            <a:ext cx="868680" cy="566928"/>
          </a:xfrm>
          <a:prstGeom prst="roundRect">
            <a:avLst>
              <a:gd name="adj" fmla="val 9677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900" b="1" i="0">
                <a:solidFill>
                  <a:srgbClr val="FFFFFF"/>
                </a:solidFill>
                <a:latin typeface="Calibri"/>
              </a:rPr>
              <a:t>Month 1–2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10122408" y="2359152"/>
            <a:ext cx="1783080" cy="621792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850" b="0" i="0">
                <a:solidFill>
                  <a:srgbClr val="1E293B"/>
                </a:solidFill>
                <a:latin typeface="Calibri"/>
              </a:rPr>
              <a:t>Pilot with the Regulation Bureau; import the existing deposit register</a:t>
            </a:r>
          </a:p>
        </p:txBody>
      </p:sp>
      <p:cxnSp>
        <p:nvCxnSpPr>
          <p:cNvPr id="17432" name="Connector 17431"/>
          <p:cNvCxnSpPr/>
          <p:nvPr/>
        </p:nvCxnSpPr>
        <p:spPr>
          <a:xfrm>
            <a:off x="9619488" y="2944368"/>
            <a:ext cx="0" cy="109728"/>
          </a:xfrm>
          <a:prstGeom prst="line">
            <a:avLst/>
          </a:prstGeom>
          <a:ln w="1905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Rounded Rectangle 17432"/>
          <p:cNvSpPr/>
          <p:nvPr/>
        </p:nvSpPr>
        <p:spPr>
          <a:xfrm>
            <a:off x="9189720" y="3054096"/>
            <a:ext cx="868680" cy="566928"/>
          </a:xfrm>
          <a:prstGeom prst="roundRect">
            <a:avLst>
              <a:gd name="adj" fmla="val 9677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900" b="1" i="0">
                <a:solidFill>
                  <a:srgbClr val="FFFFFF"/>
                </a:solidFill>
                <a:latin typeface="Calibri"/>
              </a:rPr>
              <a:t>Month 3–4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10122408" y="3035808"/>
            <a:ext cx="1783080" cy="621792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850" b="0" i="0">
                <a:solidFill>
                  <a:srgbClr val="1E293B"/>
                </a:solidFill>
                <a:latin typeface="Calibri"/>
              </a:rPr>
              <a:t>Institutions lodge renewals online; letter-based verification with banks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9619488" y="3621024"/>
            <a:ext cx="0" cy="109728"/>
          </a:xfrm>
          <a:prstGeom prst="line">
            <a:avLst/>
          </a:prstGeom>
          <a:ln w="1905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6" name="Rounded Rectangle 17435"/>
          <p:cNvSpPr/>
          <p:nvPr/>
        </p:nvSpPr>
        <p:spPr>
          <a:xfrm>
            <a:off x="9189720" y="3730752"/>
            <a:ext cx="868680" cy="566928"/>
          </a:xfrm>
          <a:prstGeom prst="roundRect">
            <a:avLst>
              <a:gd name="adj" fmla="val 9677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900" b="1" i="0">
                <a:solidFill>
                  <a:srgbClr val="FFFFFF"/>
                </a:solidFill>
                <a:latin typeface="Calibri"/>
              </a:rPr>
              <a:t>Month 5–6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10122408" y="3712464"/>
            <a:ext cx="1783080" cy="621792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850" b="0" i="0">
                <a:solidFill>
                  <a:srgbClr val="1E293B"/>
                </a:solidFill>
                <a:latin typeface="Calibri"/>
              </a:rPr>
              <a:t>Bank verification APIs where available; AICTE portal sign-on; SMS and e-mail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9171432" y="4425696"/>
            <a:ext cx="2743200" cy="118872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200"/>
              </a:spcAft>
              <a:buNone/>
            </a:pPr>
            <a:r>
              <a:rPr sz="850" b="1" i="0">
                <a:solidFill>
                  <a:srgbClr val="1F3A5F"/>
                </a:solidFill>
                <a:latin typeface="Calibri"/>
              </a:rPr>
              <a:t>Beyond AICTE: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 any regulator or department that holds bank guarantees, earnest money or FDRs can use it; deposit norms, reminders and escalation are settings.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@SignalNine  ·  Nidhi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SignalNine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28600" y="1280160"/>
            <a:ext cx="5760720" cy="2377440"/>
          </a:xfrm>
          <a:prstGeom prst="roundRect">
            <a:avLst>
              <a:gd name="adj" fmla="val 2307"/>
            </a:avLst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Rounded Rectangle 17410"/>
          <p:cNvSpPr/>
          <p:nvPr/>
        </p:nvSpPr>
        <p:spPr>
          <a:xfrm>
            <a:off x="320040" y="1161288"/>
            <a:ext cx="1271016" cy="246888"/>
          </a:xfrm>
          <a:prstGeom prst="roundRect">
            <a:avLst>
              <a:gd name="adj" fmla="val 14814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Who gains what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0040" y="150876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393192" y="1527048"/>
            <a:ext cx="2596896" cy="621792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100"/>
              </a:spcAft>
              <a:buNone/>
            </a:pPr>
            <a:r>
              <a:rPr sz="950" b="1" i="0">
                <a:solidFill>
                  <a:srgbClr val="1F3A5F"/>
                </a:solidFill>
                <a:latin typeface="Calibri"/>
              </a:rPr>
              <a:t>Regulation Bureau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</a:rPr>
              <a:t>One register; scrutiny desk with the bank's answer beside the declaration; letters written for them.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154680" y="150876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3227832" y="1527048"/>
            <a:ext cx="2596896" cy="621792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100"/>
              </a:spcAft>
              <a:buNone/>
            </a:pPr>
            <a:r>
              <a:rPr sz="950" b="1" i="0">
                <a:solidFill>
                  <a:srgbClr val="1F3A5F"/>
                </a:solidFill>
                <a:latin typeface="Calibri"/>
              </a:rPr>
              <a:t>Competent authority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</a:rPr>
              <a:t>Releases arrive checked and recommended; escalations of lapsed FDRs reach them automatically.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20040" y="2212848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393192" y="2231136"/>
            <a:ext cx="2596896" cy="621792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100"/>
              </a:spcAft>
              <a:buNone/>
            </a:pPr>
            <a:r>
              <a:rPr sz="950" b="1" i="0">
                <a:solidFill>
                  <a:srgbClr val="1F3A5F"/>
                </a:solidFill>
                <a:latin typeface="Calibri"/>
              </a:rPr>
              <a:t>Finance &amp; Accounts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</a:rPr>
              <a:t>Executes only approved releases; the lien-release letter is generated and verifiable.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154680" y="2212848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3227832" y="2231136"/>
            <a:ext cx="2596896" cy="621792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100"/>
              </a:spcAft>
              <a:buNone/>
            </a:pPr>
            <a:r>
              <a:rPr sz="950" b="1" i="0">
                <a:solidFill>
                  <a:srgbClr val="1F3A5F"/>
                </a:solidFill>
                <a:latin typeface="Calibri"/>
              </a:rPr>
              <a:t>Institutions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</a:rPr>
              <a:t>Lodge online, see what is required, get reminders before maturity and every letter in one place.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20040" y="2916936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393192" y="2935224"/>
            <a:ext cx="2596896" cy="621792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100"/>
              </a:spcAft>
              <a:buNone/>
            </a:pPr>
            <a:r>
              <a:rPr sz="950" b="1" i="0">
                <a:solidFill>
                  <a:srgbClr val="1F3A5F"/>
                </a:solidFill>
                <a:latin typeface="Calibri"/>
              </a:rPr>
              <a:t>Banks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</a:rPr>
              <a:t>Scan the QR to confirm a letter is genuine; answer verification requests online where they can.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154680" y="2916936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3227832" y="2935224"/>
            <a:ext cx="2596896" cy="621792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100"/>
              </a:spcAft>
              <a:buNone/>
            </a:pPr>
            <a:r>
              <a:rPr sz="950" b="1" i="0">
                <a:solidFill>
                  <a:srgbClr val="1F3A5F"/>
                </a:solidFill>
                <a:latin typeface="Calibri"/>
              </a:rPr>
              <a:t>Audit / vigilance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</a:rPr>
              <a:t>Every decision named, timed and sealed; tampering is detected and located.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228600" y="3858768"/>
            <a:ext cx="5760720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Rounded Rectangle 17424"/>
          <p:cNvSpPr/>
          <p:nvPr/>
        </p:nvSpPr>
        <p:spPr>
          <a:xfrm>
            <a:off x="320040" y="3739896"/>
            <a:ext cx="3680460" cy="246888"/>
          </a:xfrm>
          <a:prstGeom prst="roundRect">
            <a:avLst>
              <a:gd name="adj" fmla="val 14814"/>
            </a:avLst>
          </a:prstGeom>
          <a:solidFill>
            <a:srgbClr val="13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What the PS asks to improve, and how it shows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20040" y="4078224"/>
            <a:ext cx="1371600" cy="274320"/>
          </a:xfrm>
          <a:prstGeom prst="roundRect">
            <a:avLst>
              <a:gd name="adj" fmla="val 10000"/>
            </a:avLst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900" b="1" i="0">
                <a:solidFill>
                  <a:srgbClr val="137A4B"/>
                </a:solidFill>
                <a:latin typeface="Calibri"/>
              </a:rPr>
              <a:t>Record accuracy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783080" y="4069080"/>
            <a:ext cx="4114800" cy="310896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 marL="0" indent="0">
              <a:spcAft>
                <a:spcPts val="20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</a:rPr>
              <a:t>three sources compared field by field; 17 checks on every lodging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20040" y="4416552"/>
            <a:ext cx="1371600" cy="274320"/>
          </a:xfrm>
          <a:prstGeom prst="roundRect">
            <a:avLst>
              <a:gd name="adj" fmla="val 10000"/>
            </a:avLst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900" b="1" i="0">
                <a:solidFill>
                  <a:srgbClr val="137A4B"/>
                </a:solidFill>
                <a:latin typeface="Calibri"/>
              </a:rPr>
              <a:t>Verification time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1783080" y="4407408"/>
            <a:ext cx="4114800" cy="310896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 marL="0" indent="0">
              <a:spcAft>
                <a:spcPts val="20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</a:rPr>
              <a:t>online where banks offer it; letters chased after 7 days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320040" y="4754880"/>
            <a:ext cx="1371600" cy="274320"/>
          </a:xfrm>
          <a:prstGeom prst="roundRect">
            <a:avLst>
              <a:gd name="adj" fmla="val 10000"/>
            </a:avLst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900" b="1" i="0">
                <a:solidFill>
                  <a:srgbClr val="137A4B"/>
                </a:solidFill>
                <a:latin typeface="Calibri"/>
              </a:rPr>
              <a:t>Timely renewal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1783080" y="4745736"/>
            <a:ext cx="4114800" cy="310896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 marL="0" indent="0">
              <a:spcAft>
                <a:spcPts val="20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</a:rPr>
              <a:t>reminders, escalation, likely-late list; on-time rate on the dashboard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320040" y="5093208"/>
            <a:ext cx="1371600" cy="274320"/>
          </a:xfrm>
          <a:prstGeom prst="roundRect">
            <a:avLst>
              <a:gd name="adj" fmla="val 10000"/>
            </a:avLst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900" b="1" i="0">
                <a:solidFill>
                  <a:srgbClr val="137A4B"/>
                </a:solidFill>
                <a:latin typeface="Calibri"/>
              </a:rPr>
              <a:t>Manual effort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1783080" y="5084064"/>
            <a:ext cx="4114800" cy="310896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 marL="0" indent="0">
              <a:spcAft>
                <a:spcPts val="20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</a:rPr>
              <a:t>form filled from the FDR copy; letters and reports generated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320040" y="5431536"/>
            <a:ext cx="1371600" cy="274320"/>
          </a:xfrm>
          <a:prstGeom prst="roundRect">
            <a:avLst>
              <a:gd name="adj" fmla="val 10000"/>
            </a:avLst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900" b="1" i="0">
                <a:solidFill>
                  <a:srgbClr val="137A4B"/>
                </a:solidFill>
                <a:latin typeface="Calibri"/>
              </a:rPr>
              <a:t>Pending visibility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1783080" y="5422392"/>
            <a:ext cx="4114800" cy="310896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 marL="0" indent="0">
              <a:spcAft>
                <a:spcPts val="20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</a:rPr>
              <a:t>every pending item has a queue, an owner and an age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6126480" y="1280160"/>
            <a:ext cx="2788920" cy="457200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Rounded Rectangle 17436"/>
          <p:cNvSpPr/>
          <p:nvPr/>
        </p:nvSpPr>
        <p:spPr>
          <a:xfrm>
            <a:off x="6217920" y="1161288"/>
            <a:ext cx="2359152" cy="246888"/>
          </a:xfrm>
          <a:prstGeom prst="roundRect">
            <a:avLst>
              <a:gd name="adj" fmla="val 14814"/>
            </a:avLst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PS test scenarios, automated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217920" y="1508760"/>
            <a:ext cx="2651760" cy="566928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950" b="1" i="0">
                <a:solidFill>
                  <a:srgbClr val="137A4B"/>
                </a:solidFill>
                <a:latin typeface="Calibri"/>
              </a:rPr>
              <a:t>✔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 </a:t>
            </a:r>
            <a:r>
              <a:rPr sz="950" b="1" i="0">
                <a:solidFill>
                  <a:srgbClr val="1F3A5F"/>
                </a:solidFill>
                <a:latin typeface="Calibri"/>
              </a:rPr>
              <a:t>New FDR submission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</a:rPr>
              <a:t>read, lodged, acknowledged, bank-confirmed, accepted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6217920" y="2130552"/>
            <a:ext cx="2651760" cy="566928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950" b="1" i="0">
                <a:solidFill>
                  <a:srgbClr val="137A4B"/>
                </a:solidFill>
                <a:latin typeface="Calibri"/>
              </a:rPr>
              <a:t>✔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 </a:t>
            </a:r>
            <a:r>
              <a:rPr sz="950" b="1" i="0">
                <a:solidFill>
                  <a:srgbClr val="1F3A5F"/>
                </a:solidFill>
                <a:latin typeface="Calibri"/>
              </a:rPr>
              <a:t>Validity tracking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</a:rPr>
              <a:t>active → maturing → matured, by the monitor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217920" y="2752344"/>
            <a:ext cx="2651760" cy="566928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950" b="1" i="0">
                <a:solidFill>
                  <a:srgbClr val="137A4B"/>
                </a:solidFill>
                <a:latin typeface="Calibri"/>
              </a:rPr>
              <a:t>✔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 </a:t>
            </a:r>
            <a:r>
              <a:rPr sz="950" b="1" i="0">
                <a:solidFill>
                  <a:srgbClr val="1F3A5F"/>
                </a:solidFill>
                <a:latin typeface="Calibri"/>
              </a:rPr>
              <a:t>Approaching maturity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</a:rPr>
              <a:t>reminders at each offset, sent once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217920" y="3374136"/>
            <a:ext cx="2651760" cy="566928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950" b="1" i="0">
                <a:solidFill>
                  <a:srgbClr val="137A4B"/>
                </a:solidFill>
                <a:latin typeface="Calibri"/>
              </a:rPr>
              <a:t>✔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 </a:t>
            </a:r>
            <a:r>
              <a:rPr sz="950" b="1" i="0">
                <a:solidFill>
                  <a:srgbClr val="1F3A5F"/>
                </a:solidFill>
                <a:latin typeface="Calibri"/>
              </a:rPr>
              <a:t>Renewal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</a:rPr>
              <a:t>old FDR closed as renewed; chain kept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6217920" y="3995928"/>
            <a:ext cx="2651760" cy="566928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950" b="1" i="0">
                <a:solidFill>
                  <a:srgbClr val="137A4B"/>
                </a:solidFill>
                <a:latin typeface="Calibri"/>
              </a:rPr>
              <a:t>✔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 </a:t>
            </a:r>
            <a:r>
              <a:rPr sz="950" b="1" i="0">
                <a:solidFill>
                  <a:srgbClr val="1F3A5F"/>
                </a:solidFill>
                <a:latin typeface="Calibri"/>
              </a:rPr>
              <a:t>Discrepancy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</a:rPr>
              <a:t>short amount, no lien, altered copy, reused FDR, bank differs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6217920" y="4617720"/>
            <a:ext cx="2651760" cy="566928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950" b="1" i="0">
                <a:solidFill>
                  <a:srgbClr val="137A4B"/>
                </a:solidFill>
                <a:latin typeface="Calibri"/>
              </a:rPr>
              <a:t>✔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 </a:t>
            </a:r>
            <a:r>
              <a:rPr sz="950" b="1" i="0">
                <a:solidFill>
                  <a:srgbClr val="1F3A5F"/>
                </a:solidFill>
                <a:latin typeface="Calibri"/>
              </a:rPr>
              <a:t>Authorised release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</a:rPr>
              <a:t>checklist, maker-checker, lien letter verified by its PDF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6217920" y="5239512"/>
            <a:ext cx="2651760" cy="566928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950" b="1" i="0">
                <a:solidFill>
                  <a:srgbClr val="137A4B"/>
                </a:solidFill>
                <a:latin typeface="Calibri"/>
              </a:rPr>
              <a:t>✔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 </a:t>
            </a:r>
            <a:r>
              <a:rPr sz="950" b="1" i="0">
                <a:solidFill>
                  <a:srgbClr val="1F3A5F"/>
                </a:solidFill>
                <a:latin typeface="Calibri"/>
              </a:rPr>
              <a:t>Also in a real browser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</a:rPr>
              <a:t>17 Playwright tests drive the same flows end to end</a:t>
            </a:r>
          </a:p>
        </p:txBody>
      </p:sp>
      <p:pic>
        <p:nvPicPr>
          <p:cNvPr id="17445" name="Picture 17444" descr="ch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280160"/>
            <a:ext cx="2907792" cy="113391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17446" name="TextBox 17445"/>
          <p:cNvSpPr txBox="1"/>
          <p:nvPr/>
        </p:nvSpPr>
        <p:spPr>
          <a:xfrm>
            <a:off x="9052560" y="2441501"/>
            <a:ext cx="2907792" cy="4114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850" b="1" i="0">
                <a:solidFill>
                  <a:srgbClr val="C2570C"/>
                </a:solidFill>
                <a:latin typeface="Calibri"/>
              </a:rPr>
              <a:t>Renewal history</a:t>
            </a:r>
            <a:r>
              <a:rPr sz="850" b="0" i="0">
                <a:solidFill>
                  <a:srgbClr val="475569"/>
                </a:solidFill>
                <a:latin typeface="Calibri"/>
              </a:rPr>
              <a:t>: an institution that renewed late three times; its next FDR is flagged early</a:t>
            </a:r>
          </a:p>
        </p:txBody>
      </p:sp>
      <p:pic>
        <p:nvPicPr>
          <p:cNvPr id="17447" name="Picture 17446" descr="verif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2944422"/>
            <a:ext cx="2907792" cy="1518038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17448" name="TextBox 17447"/>
          <p:cNvSpPr txBox="1"/>
          <p:nvPr/>
        </p:nvSpPr>
        <p:spPr>
          <a:xfrm>
            <a:off x="9052560" y="4489892"/>
            <a:ext cx="2907792" cy="4114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850" b="1" i="0">
                <a:solidFill>
                  <a:srgbClr val="0B5CAD"/>
                </a:solidFill>
                <a:latin typeface="Calibri"/>
              </a:rPr>
              <a:t>Public letter check</a:t>
            </a:r>
            <a:r>
              <a:rPr sz="850" b="0" i="0">
                <a:solidFill>
                  <a:srgbClr val="475569"/>
                </a:solidFill>
                <a:latin typeface="Calibri"/>
              </a:rPr>
              <a:t>: a bank branch confirms a lien-release letter by its QR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@SignalNine  ·  Nidhi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SignalNine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28600" y="1280160"/>
            <a:ext cx="603504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Rounded Rectangle 17410"/>
          <p:cNvSpPr/>
          <p:nvPr/>
        </p:nvSpPr>
        <p:spPr>
          <a:xfrm>
            <a:off x="320040" y="1161288"/>
            <a:ext cx="2747772" cy="246888"/>
          </a:xfrm>
          <a:prstGeom prst="roundRect">
            <a:avLst>
              <a:gd name="adj" fmla="val 14814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Today's way of working, and Nidhi</a:t>
            </a:r>
          </a:p>
        </p:txBody>
      </p:sp>
      <p:graphicFrame>
        <p:nvGraphicFramePr>
          <p:cNvPr id="17412" name="Table 17411"/>
          <p:cNvGraphicFramePr>
            <a:graphicFrameLocks noGrp="1"/>
          </p:cNvGraphicFramePr>
          <p:nvPr/>
        </p:nvGraphicFramePr>
        <p:xfrm>
          <a:off x="320040" y="1508760"/>
          <a:ext cx="5852160" cy="25603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017520"/>
                <a:gridCol w="1737360"/>
                <a:gridCol w="1097280"/>
              </a:tblGrid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Need in PS 26265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Files, letters, spreadsheets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Nidhi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E293B"/>
                          </a:solidFill>
                          <a:latin typeface="Calibri"/>
                        </a:rPr>
                        <a:t>One up-to-date register of deposits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E293B"/>
                          </a:solidFill>
                          <a:latin typeface="Calibri"/>
                        </a:rPr>
                        <a:t>Partial, per desk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37A4B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E293B"/>
                          </a:solidFill>
                          <a:latin typeface="Calibri"/>
                        </a:rPr>
                        <a:t>Institution-declared vs bank-confirmed kept apart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42318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37A4B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E293B"/>
                          </a:solidFill>
                          <a:latin typeface="Calibri"/>
                        </a:rPr>
                        <a:t>Altered or reused FDR detected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E293B"/>
                          </a:solidFill>
                          <a:latin typeface="Calibri"/>
                        </a:rPr>
                        <a:t>By chance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37A4B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E293B"/>
                          </a:solidFill>
                          <a:latin typeface="Calibri"/>
                        </a:rPr>
                        <a:t>Reminders before maturity, escalation after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E293B"/>
                          </a:solidFill>
                          <a:latin typeface="Calibri"/>
                        </a:rPr>
                        <a:t>Manual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37A4B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E293B"/>
                          </a:solidFill>
                          <a:latin typeface="Calibri"/>
                        </a:rPr>
                        <a:t>Release with recorded conditions and approvals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E293B"/>
                          </a:solidFill>
                          <a:latin typeface="Calibri"/>
                        </a:rPr>
                        <a:t>On file notings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37A4B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E293B"/>
                          </a:solidFill>
                          <a:latin typeface="Calibri"/>
                        </a:rPr>
                        <a:t>Letters verifiable by the bank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42318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E293B"/>
                          </a:solidFill>
                          <a:latin typeface="Calibri"/>
                        </a:rPr>
                        <a:t>Y (QR)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E293B"/>
                          </a:solidFill>
                          <a:latin typeface="Calibri"/>
                        </a:rPr>
                        <a:t>Tamper-evident history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42318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37A4B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3" name="TextBox 17412"/>
          <p:cNvSpPr txBox="1"/>
          <p:nvPr/>
        </p:nvSpPr>
        <p:spPr>
          <a:xfrm>
            <a:off x="320040" y="4224528"/>
            <a:ext cx="5852160" cy="27432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200"/>
              </a:spcAft>
              <a:buNone/>
            </a:pPr>
            <a:r>
              <a:rPr sz="850" b="0" i="0">
                <a:solidFill>
                  <a:srgbClr val="475569"/>
                </a:solidFill>
                <a:latin typeface="Calibri"/>
              </a:rPr>
              <a:t>Comparison drawn from the problem statement's own description of current practice.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400800" y="1280160"/>
            <a:ext cx="5559552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Rounded Rectangle 17414"/>
          <p:cNvSpPr/>
          <p:nvPr/>
        </p:nvSpPr>
        <p:spPr>
          <a:xfrm>
            <a:off x="6492240" y="1161288"/>
            <a:ext cx="960120" cy="246888"/>
          </a:xfrm>
          <a:prstGeom prst="roundRect">
            <a:avLst>
              <a:gd name="adj" fmla="val 14814"/>
            </a:avLst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492240" y="1508760"/>
            <a:ext cx="5394960" cy="420624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850" b="1" i="0">
                <a:solidFill>
                  <a:srgbClr val="1F3A5F"/>
                </a:solidFill>
                <a:latin typeface="Calibri"/>
              </a:rPr>
              <a:t>[1]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 Smart India Hackathon 2026, Problem Statement 26265: Security Deposit/FDR Management Portal (AICTE, MoE)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492240" y="1984248"/>
            <a:ext cx="5394960" cy="420624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850" b="1" i="0">
                <a:solidFill>
                  <a:srgbClr val="1F3A5F"/>
                </a:solidFill>
                <a:latin typeface="Calibri"/>
              </a:rPr>
              <a:t>[2]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 Digital Personal Data Protection Act, 2023 (MeitY)</a:t>
            </a:r>
          </a:p>
          <a:p>
            <a:r>
              <a:rPr sz="750">
                <a:solidFill>
                  <a:srgbClr val="0B5CAD"/>
                </a:solidFill>
                <a:latin typeface="Calibri"/>
                <a:hlinkClick r:id="rId4"/>
              </a:rPr>
              <a:t>https://www.meity.gov.in/static/uploads/2024/06/2bf1f0e9f04e6fb4f8fef35e82c42aa5.pdf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492240" y="2459736"/>
            <a:ext cx="5394960" cy="420624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850" b="1" i="0">
                <a:solidFill>
                  <a:srgbClr val="1F3A5F"/>
                </a:solidFill>
                <a:latin typeface="Calibri"/>
              </a:rPr>
              <a:t>[3]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 Haber and Stornetta, “How to time-stamp a digital document”, J. Cryptology, 1991 (hash chains)</a:t>
            </a:r>
          </a:p>
          <a:p>
            <a:r>
              <a:rPr sz="750">
                <a:solidFill>
                  <a:srgbClr val="0B5CAD"/>
                </a:solidFill>
                <a:latin typeface="Calibri"/>
                <a:hlinkClick r:id="rId5"/>
              </a:rPr>
              <a:t>https://doi.org/10.1007/BF00196791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492240" y="2935224"/>
            <a:ext cx="5394960" cy="420624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850" b="1" i="0">
                <a:solidFill>
                  <a:srgbClr val="1F3A5F"/>
                </a:solidFill>
                <a:latin typeface="Calibri"/>
              </a:rPr>
              <a:t>[4]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 ISO/IEC 18004: QR Code bar code symbology specification</a:t>
            </a:r>
          </a:p>
          <a:p>
            <a:r>
              <a:rPr sz="750">
                <a:solidFill>
                  <a:srgbClr val="0B5CAD"/>
                </a:solidFill>
                <a:latin typeface="Calibri"/>
                <a:hlinkClick r:id="rId6"/>
              </a:rPr>
              <a:t>https://www.iso.org/standard/62021.html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492240" y="3410712"/>
            <a:ext cx="5394960" cy="420624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850" b="1" i="0">
                <a:solidFill>
                  <a:srgbClr val="1F3A5F"/>
                </a:solidFill>
                <a:latin typeface="Calibri"/>
              </a:rPr>
              <a:t>[5]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 FIPS 180-4, Secure Hash Standard (SHA-256), NIST</a:t>
            </a:r>
          </a:p>
          <a:p>
            <a:r>
              <a:rPr sz="750">
                <a:solidFill>
                  <a:srgbClr val="0B5CAD"/>
                </a:solidFill>
                <a:latin typeface="Calibri"/>
                <a:hlinkClick r:id="rId7"/>
              </a:rPr>
              <a:t>https://doi.org/10.6028/NIST.FIPS.180-4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492240" y="3886200"/>
            <a:ext cx="5394960" cy="420624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850" b="1" i="0">
                <a:solidFill>
                  <a:srgbClr val="1F3A5F"/>
                </a:solidFill>
                <a:latin typeface="Calibri"/>
              </a:rPr>
              <a:t>[6]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 scikit-learn: HistGradientBoostingClassifier; RapidFuzz: string similarity</a:t>
            </a:r>
          </a:p>
          <a:p>
            <a:r>
              <a:rPr sz="750">
                <a:solidFill>
                  <a:srgbClr val="0B5CAD"/>
                </a:solidFill>
                <a:latin typeface="Calibri"/>
                <a:hlinkClick r:id="rId8"/>
              </a:rPr>
              <a:t>https://scikit-learn.org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228600" y="4754880"/>
            <a:ext cx="1173175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Rounded Rectangle 17422"/>
          <p:cNvSpPr/>
          <p:nvPr/>
        </p:nvSpPr>
        <p:spPr>
          <a:xfrm>
            <a:off x="320040" y="4636008"/>
            <a:ext cx="1970532" cy="246888"/>
          </a:xfrm>
          <a:prstGeom prst="roundRect">
            <a:avLst>
              <a:gd name="adj" fmla="val 14814"/>
            </a:avLst>
          </a:prstGeom>
          <a:solidFill>
            <a:srgbClr val="13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Prototype and resources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320040" y="5047488"/>
            <a:ext cx="2011680" cy="77724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200"/>
              </a:spcAft>
              <a:buNone/>
            </a:pPr>
            <a:r>
              <a:rPr sz="1050" b="1" i="0">
                <a:solidFill>
                  <a:srgbClr val="1F3A5F"/>
                </a:solidFill>
                <a:latin typeface="Calibri"/>
              </a:rPr>
              <a:t>Live prototype</a:t>
            </a:r>
          </a:p>
          <a:p>
            <a:r>
              <a:rPr sz="1050" b="1">
                <a:solidFill>
                  <a:srgbClr val="B42318"/>
                </a:solidFill>
                <a:latin typeface="Calibri"/>
              </a:rPr>
              <a:t>[add link after deploying]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2404872" y="5047488"/>
            <a:ext cx="1463040" cy="77724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200"/>
              </a:spcAft>
              <a:buNone/>
            </a:pPr>
            <a:r>
              <a:rPr sz="1050" b="1" i="0">
                <a:solidFill>
                  <a:srgbClr val="1F3A5F"/>
                </a:solidFill>
                <a:latin typeface="Calibri"/>
              </a:rPr>
              <a:t>Demo video</a:t>
            </a:r>
          </a:p>
          <a:p>
            <a:r>
              <a:rPr sz="1050" b="1">
                <a:solidFill>
                  <a:srgbClr val="B42318"/>
                </a:solidFill>
                <a:latin typeface="Calibri"/>
              </a:rPr>
              <a:t>[add link]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3941064" y="5047488"/>
            <a:ext cx="1645920" cy="77724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200"/>
              </a:spcAft>
              <a:buNone/>
            </a:pPr>
            <a:r>
              <a:rPr sz="1050" b="1" i="0">
                <a:solidFill>
                  <a:srgbClr val="1F3A5F"/>
                </a:solidFill>
                <a:latin typeface="Calibri"/>
              </a:rPr>
              <a:t>Source code</a:t>
            </a:r>
          </a:p>
          <a:p>
            <a:r>
              <a:rPr sz="1050" b="1">
                <a:solidFill>
                  <a:srgbClr val="B42318"/>
                </a:solidFill>
                <a:latin typeface="Calibri"/>
              </a:rPr>
              <a:t>[add GitHub link]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660136" y="5047488"/>
            <a:ext cx="3291840" cy="77724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200"/>
              </a:spcAft>
              <a:buNone/>
            </a:pPr>
            <a:r>
              <a:rPr sz="1050" b="1" i="0">
                <a:solidFill>
                  <a:srgbClr val="1F3A5F"/>
                </a:solidFill>
                <a:latin typeface="Calibri"/>
              </a:rPr>
              <a:t>Demo sign-in</a:t>
            </a:r>
          </a:p>
          <a:p>
            <a:r>
              <a:rPr sz="1050" b="0">
                <a:solidFill>
                  <a:srgbClr val="1E293B"/>
                </a:solidFill>
                <a:latin typeface="Calibri"/>
              </a:rPr>
              <a:t>rb.head@nidhi.test · kadamb@nidhi.test · password Demo@2026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